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5" r:id="rId12"/>
    <p:sldId id="279" r:id="rId13"/>
    <p:sldId id="280" r:id="rId14"/>
    <p:sldId id="286" r:id="rId15"/>
    <p:sldId id="285" r:id="rId16"/>
    <p:sldId id="267" r:id="rId17"/>
    <p:sldId id="268" r:id="rId18"/>
    <p:sldId id="281" r:id="rId19"/>
    <p:sldId id="282" r:id="rId20"/>
    <p:sldId id="284" r:id="rId21"/>
    <p:sldId id="283" r:id="rId22"/>
    <p:sldId id="276" r:id="rId23"/>
    <p:sldId id="277" r:id="rId24"/>
    <p:sldId id="287" r:id="rId2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2026" autoAdjust="0"/>
  </p:normalViewPr>
  <p:slideViewPr>
    <p:cSldViewPr snapToGrid="0">
      <p:cViewPr varScale="1">
        <p:scale>
          <a:sx n="104" d="100"/>
          <a:sy n="104" d="100"/>
        </p:scale>
        <p:origin x="8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1A0A9D-AA8C-44EC-ADC6-05086DB4EF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2FF9157-C6E6-4B17-90E4-A1BFF13A6C6D}">
      <dgm:prSet/>
      <dgm:spPr/>
      <dgm:t>
        <a:bodyPr/>
        <a:lstStyle/>
        <a:p>
          <a:r>
            <a:rPr lang="en-US" b="1" dirty="0"/>
            <a:t>LLMs</a:t>
          </a:r>
          <a:r>
            <a:rPr lang="en-US" dirty="0"/>
            <a:t> = powerful general agents (generative A.I., trained to understand, process and generate human language, can exhibit reasoning and decision-making abilities).</a:t>
          </a:r>
        </a:p>
      </dgm:t>
    </dgm:pt>
    <dgm:pt modelId="{8FBB6607-B989-4D6A-BF13-72D8194625C2}" type="parTrans" cxnId="{5B1CAFC9-4800-4D7C-81BA-F824F7E4417A}">
      <dgm:prSet/>
      <dgm:spPr/>
      <dgm:t>
        <a:bodyPr/>
        <a:lstStyle/>
        <a:p>
          <a:endParaRPr lang="en-US"/>
        </a:p>
      </dgm:t>
    </dgm:pt>
    <dgm:pt modelId="{6CFC82A1-A404-4DC2-B023-D6DD6FFC708B}" type="sibTrans" cxnId="{5B1CAFC9-4800-4D7C-81BA-F824F7E4417A}">
      <dgm:prSet/>
      <dgm:spPr/>
      <dgm:t>
        <a:bodyPr/>
        <a:lstStyle/>
        <a:p>
          <a:endParaRPr lang="en-US"/>
        </a:p>
      </dgm:t>
    </dgm:pt>
    <dgm:pt modelId="{F86CBFC0-FB5F-4FF1-BF76-52C87838B12A}">
      <dgm:prSet/>
      <dgm:spPr/>
      <dgm:t>
        <a:bodyPr/>
        <a:lstStyle/>
        <a:p>
          <a:r>
            <a:rPr lang="en-US" b="1" dirty="0"/>
            <a:t>But</a:t>
          </a:r>
          <a:r>
            <a:rPr lang="en-US" dirty="0"/>
            <a:t>: Do they really </a:t>
          </a:r>
          <a:r>
            <a:rPr lang="en-US" b="1" dirty="0"/>
            <a:t>strategically reason </a:t>
          </a:r>
          <a:r>
            <a:rPr lang="en-US" dirty="0"/>
            <a:t>or just </a:t>
          </a:r>
          <a:r>
            <a:rPr lang="en-US" b="1" dirty="0"/>
            <a:t>recall</a:t>
          </a:r>
          <a:r>
            <a:rPr lang="en-US" dirty="0"/>
            <a:t>? If yes, how deep is their reasoning ability?</a:t>
          </a:r>
        </a:p>
      </dgm:t>
    </dgm:pt>
    <dgm:pt modelId="{779E487B-D33A-4080-A977-324B47D1AFB4}" type="parTrans" cxnId="{19F96E09-AD30-4B6F-9EAD-07BE130CB33F}">
      <dgm:prSet/>
      <dgm:spPr/>
      <dgm:t>
        <a:bodyPr/>
        <a:lstStyle/>
        <a:p>
          <a:endParaRPr lang="en-US"/>
        </a:p>
      </dgm:t>
    </dgm:pt>
    <dgm:pt modelId="{4425D1E0-011C-48C3-BCFD-78976AAEBB35}" type="sibTrans" cxnId="{19F96E09-AD30-4B6F-9EAD-07BE130CB33F}">
      <dgm:prSet/>
      <dgm:spPr/>
      <dgm:t>
        <a:bodyPr/>
        <a:lstStyle/>
        <a:p>
          <a:endParaRPr lang="en-US"/>
        </a:p>
      </dgm:t>
    </dgm:pt>
    <dgm:pt modelId="{F351B68E-DB2D-410D-8375-115FDDE772C2}">
      <dgm:prSet/>
      <dgm:spPr/>
      <dgm:t>
        <a:bodyPr/>
        <a:lstStyle/>
        <a:p>
          <a:r>
            <a:rPr lang="en-US" b="1" dirty="0"/>
            <a:t>Game Theory </a:t>
          </a:r>
          <a:r>
            <a:rPr lang="en-US" dirty="0"/>
            <a:t>= perfect testbed for probing reasoning.</a:t>
          </a:r>
        </a:p>
      </dgm:t>
    </dgm:pt>
    <dgm:pt modelId="{0664CDC7-D8EE-4B9C-BB79-DB5EBC1CB870}" type="parTrans" cxnId="{4EB01C76-D24E-4CA3-AB16-B8F9170C45A4}">
      <dgm:prSet/>
      <dgm:spPr/>
      <dgm:t>
        <a:bodyPr/>
        <a:lstStyle/>
        <a:p>
          <a:endParaRPr lang="en-US"/>
        </a:p>
      </dgm:t>
    </dgm:pt>
    <dgm:pt modelId="{29465170-5FBD-4A9B-81FC-F8DC0C85DD8F}" type="sibTrans" cxnId="{4EB01C76-D24E-4CA3-AB16-B8F9170C45A4}">
      <dgm:prSet/>
      <dgm:spPr/>
      <dgm:t>
        <a:bodyPr/>
        <a:lstStyle/>
        <a:p>
          <a:endParaRPr lang="en-US"/>
        </a:p>
      </dgm:t>
    </dgm:pt>
    <dgm:pt modelId="{F3F4A0EC-3815-4ED7-AC99-0BBB8341D6C9}" type="pres">
      <dgm:prSet presAssocID="{471A0A9D-AA8C-44EC-ADC6-05086DB4EF8C}" presName="root" presStyleCnt="0">
        <dgm:presLayoutVars>
          <dgm:dir/>
          <dgm:resizeHandles val="exact"/>
        </dgm:presLayoutVars>
      </dgm:prSet>
      <dgm:spPr/>
    </dgm:pt>
    <dgm:pt modelId="{283D4D9D-0289-40A1-9875-C83A1BE00287}" type="pres">
      <dgm:prSet presAssocID="{42FF9157-C6E6-4B17-90E4-A1BFF13A6C6D}" presName="compNode" presStyleCnt="0"/>
      <dgm:spPr/>
    </dgm:pt>
    <dgm:pt modelId="{A0FC2CEC-59F8-4FEA-98C3-37A19F02DFE0}" type="pres">
      <dgm:prSet presAssocID="{42FF9157-C6E6-4B17-90E4-A1BFF13A6C6D}" presName="bgRect" presStyleLbl="bgShp" presStyleIdx="0" presStyleCnt="3"/>
      <dgm:spPr/>
    </dgm:pt>
    <dgm:pt modelId="{C51FC26F-E9B1-48FD-A6E4-782B563FB1AE}" type="pres">
      <dgm:prSet presAssocID="{42FF9157-C6E6-4B17-90E4-A1BFF13A6C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E2844238-5489-49A0-A5E2-265122F68090}" type="pres">
      <dgm:prSet presAssocID="{42FF9157-C6E6-4B17-90E4-A1BFF13A6C6D}" presName="spaceRect" presStyleCnt="0"/>
      <dgm:spPr/>
    </dgm:pt>
    <dgm:pt modelId="{EEA63754-EBC2-407D-8187-8980B4A55D5E}" type="pres">
      <dgm:prSet presAssocID="{42FF9157-C6E6-4B17-90E4-A1BFF13A6C6D}" presName="parTx" presStyleLbl="revTx" presStyleIdx="0" presStyleCnt="3">
        <dgm:presLayoutVars>
          <dgm:chMax val="0"/>
          <dgm:chPref val="0"/>
        </dgm:presLayoutVars>
      </dgm:prSet>
      <dgm:spPr/>
    </dgm:pt>
    <dgm:pt modelId="{94021E50-48FD-49DF-80F6-0F47DCE4452F}" type="pres">
      <dgm:prSet presAssocID="{6CFC82A1-A404-4DC2-B023-D6DD6FFC708B}" presName="sibTrans" presStyleCnt="0"/>
      <dgm:spPr/>
    </dgm:pt>
    <dgm:pt modelId="{3549D846-5300-45FE-8429-49863C9BB9D9}" type="pres">
      <dgm:prSet presAssocID="{F86CBFC0-FB5F-4FF1-BF76-52C87838B12A}" presName="compNode" presStyleCnt="0"/>
      <dgm:spPr/>
    </dgm:pt>
    <dgm:pt modelId="{844074DA-81BE-4458-9CCD-74F44E15EDFD}" type="pres">
      <dgm:prSet presAssocID="{F86CBFC0-FB5F-4FF1-BF76-52C87838B12A}" presName="bgRect" presStyleLbl="bgShp" presStyleIdx="1" presStyleCnt="3" custLinFactNeighborY="1927"/>
      <dgm:spPr/>
    </dgm:pt>
    <dgm:pt modelId="{494FCCAA-D2D2-4024-9460-5C52E22197E1}" type="pres">
      <dgm:prSet presAssocID="{F86CBFC0-FB5F-4FF1-BF76-52C87838B1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9BD3CBA-95EE-477C-99FF-2D96293DB1A3}" type="pres">
      <dgm:prSet presAssocID="{F86CBFC0-FB5F-4FF1-BF76-52C87838B12A}" presName="spaceRect" presStyleCnt="0"/>
      <dgm:spPr/>
    </dgm:pt>
    <dgm:pt modelId="{9635BCE4-68C7-452C-AE0B-F51C0BF7CA54}" type="pres">
      <dgm:prSet presAssocID="{F86CBFC0-FB5F-4FF1-BF76-52C87838B12A}" presName="parTx" presStyleLbl="revTx" presStyleIdx="1" presStyleCnt="3">
        <dgm:presLayoutVars>
          <dgm:chMax val="0"/>
          <dgm:chPref val="0"/>
        </dgm:presLayoutVars>
      </dgm:prSet>
      <dgm:spPr/>
    </dgm:pt>
    <dgm:pt modelId="{00DB949C-B4A2-44D7-A3D8-C1E76A9401F4}" type="pres">
      <dgm:prSet presAssocID="{4425D1E0-011C-48C3-BCFD-78976AAEBB35}" presName="sibTrans" presStyleCnt="0"/>
      <dgm:spPr/>
    </dgm:pt>
    <dgm:pt modelId="{6F4755AA-4C07-4A41-8F1E-0DA032F597CC}" type="pres">
      <dgm:prSet presAssocID="{F351B68E-DB2D-410D-8375-115FDDE772C2}" presName="compNode" presStyleCnt="0"/>
      <dgm:spPr/>
    </dgm:pt>
    <dgm:pt modelId="{43170F48-1BFF-4FAC-BD85-811A6398C1C0}" type="pres">
      <dgm:prSet presAssocID="{F351B68E-DB2D-410D-8375-115FDDE772C2}" presName="bgRect" presStyleLbl="bgShp" presStyleIdx="2" presStyleCnt="3"/>
      <dgm:spPr/>
    </dgm:pt>
    <dgm:pt modelId="{92B91808-F50C-4DBA-955B-332A607744A2}" type="pres">
      <dgm:prSet presAssocID="{F351B68E-DB2D-410D-8375-115FDDE772C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E7FF4E20-C2FB-4C55-9095-7564AA680284}" type="pres">
      <dgm:prSet presAssocID="{F351B68E-DB2D-410D-8375-115FDDE772C2}" presName="spaceRect" presStyleCnt="0"/>
      <dgm:spPr/>
    </dgm:pt>
    <dgm:pt modelId="{4743EF21-CDE6-4F5E-B3B7-89A0D02B86D7}" type="pres">
      <dgm:prSet presAssocID="{F351B68E-DB2D-410D-8375-115FDDE772C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9F96E09-AD30-4B6F-9EAD-07BE130CB33F}" srcId="{471A0A9D-AA8C-44EC-ADC6-05086DB4EF8C}" destId="{F86CBFC0-FB5F-4FF1-BF76-52C87838B12A}" srcOrd="1" destOrd="0" parTransId="{779E487B-D33A-4080-A977-324B47D1AFB4}" sibTransId="{4425D1E0-011C-48C3-BCFD-78976AAEBB35}"/>
    <dgm:cxn modelId="{93B7F522-B5CA-4E82-945F-0F82AD0F6DED}" type="presOf" srcId="{F351B68E-DB2D-410D-8375-115FDDE772C2}" destId="{4743EF21-CDE6-4F5E-B3B7-89A0D02B86D7}" srcOrd="0" destOrd="0" presId="urn:microsoft.com/office/officeart/2018/2/layout/IconVerticalSolidList"/>
    <dgm:cxn modelId="{D8436870-9735-4962-A4A1-19F15071D181}" type="presOf" srcId="{F86CBFC0-FB5F-4FF1-BF76-52C87838B12A}" destId="{9635BCE4-68C7-452C-AE0B-F51C0BF7CA54}" srcOrd="0" destOrd="0" presId="urn:microsoft.com/office/officeart/2018/2/layout/IconVerticalSolidList"/>
    <dgm:cxn modelId="{4EB01C76-D24E-4CA3-AB16-B8F9170C45A4}" srcId="{471A0A9D-AA8C-44EC-ADC6-05086DB4EF8C}" destId="{F351B68E-DB2D-410D-8375-115FDDE772C2}" srcOrd="2" destOrd="0" parTransId="{0664CDC7-D8EE-4B9C-BB79-DB5EBC1CB870}" sibTransId="{29465170-5FBD-4A9B-81FC-F8DC0C85DD8F}"/>
    <dgm:cxn modelId="{33EB7C9F-5D2E-4BF8-8E64-436E5DC6C129}" type="presOf" srcId="{471A0A9D-AA8C-44EC-ADC6-05086DB4EF8C}" destId="{F3F4A0EC-3815-4ED7-AC99-0BBB8341D6C9}" srcOrd="0" destOrd="0" presId="urn:microsoft.com/office/officeart/2018/2/layout/IconVerticalSolidList"/>
    <dgm:cxn modelId="{5B1CAFC9-4800-4D7C-81BA-F824F7E4417A}" srcId="{471A0A9D-AA8C-44EC-ADC6-05086DB4EF8C}" destId="{42FF9157-C6E6-4B17-90E4-A1BFF13A6C6D}" srcOrd="0" destOrd="0" parTransId="{8FBB6607-B989-4D6A-BF13-72D8194625C2}" sibTransId="{6CFC82A1-A404-4DC2-B023-D6DD6FFC708B}"/>
    <dgm:cxn modelId="{8C5BBCF4-DE46-456F-B607-28CC25889A1C}" type="presOf" srcId="{42FF9157-C6E6-4B17-90E4-A1BFF13A6C6D}" destId="{EEA63754-EBC2-407D-8187-8980B4A55D5E}" srcOrd="0" destOrd="0" presId="urn:microsoft.com/office/officeart/2018/2/layout/IconVerticalSolidList"/>
    <dgm:cxn modelId="{55E0861C-689E-41F1-BE0D-B4FE29C5C070}" type="presParOf" srcId="{F3F4A0EC-3815-4ED7-AC99-0BBB8341D6C9}" destId="{283D4D9D-0289-40A1-9875-C83A1BE00287}" srcOrd="0" destOrd="0" presId="urn:microsoft.com/office/officeart/2018/2/layout/IconVerticalSolidList"/>
    <dgm:cxn modelId="{EF0BBB85-2B54-4721-A7C0-54D728E377F9}" type="presParOf" srcId="{283D4D9D-0289-40A1-9875-C83A1BE00287}" destId="{A0FC2CEC-59F8-4FEA-98C3-37A19F02DFE0}" srcOrd="0" destOrd="0" presId="urn:microsoft.com/office/officeart/2018/2/layout/IconVerticalSolidList"/>
    <dgm:cxn modelId="{34789730-E84F-4F49-9A62-F06D9AF1A2EF}" type="presParOf" srcId="{283D4D9D-0289-40A1-9875-C83A1BE00287}" destId="{C51FC26F-E9B1-48FD-A6E4-782B563FB1AE}" srcOrd="1" destOrd="0" presId="urn:microsoft.com/office/officeart/2018/2/layout/IconVerticalSolidList"/>
    <dgm:cxn modelId="{5900FA5F-E618-4592-B40E-6F7F8E1CA5DA}" type="presParOf" srcId="{283D4D9D-0289-40A1-9875-C83A1BE00287}" destId="{E2844238-5489-49A0-A5E2-265122F68090}" srcOrd="2" destOrd="0" presId="urn:microsoft.com/office/officeart/2018/2/layout/IconVerticalSolidList"/>
    <dgm:cxn modelId="{BB11ECA1-C2D4-4F0E-B22B-1BA75C7C6E2E}" type="presParOf" srcId="{283D4D9D-0289-40A1-9875-C83A1BE00287}" destId="{EEA63754-EBC2-407D-8187-8980B4A55D5E}" srcOrd="3" destOrd="0" presId="urn:microsoft.com/office/officeart/2018/2/layout/IconVerticalSolidList"/>
    <dgm:cxn modelId="{3F68E52E-F4AF-4156-B90D-B3CE77A74A91}" type="presParOf" srcId="{F3F4A0EC-3815-4ED7-AC99-0BBB8341D6C9}" destId="{94021E50-48FD-49DF-80F6-0F47DCE4452F}" srcOrd="1" destOrd="0" presId="urn:microsoft.com/office/officeart/2018/2/layout/IconVerticalSolidList"/>
    <dgm:cxn modelId="{364D84F2-7AA2-4D76-A903-A9B2982D97AC}" type="presParOf" srcId="{F3F4A0EC-3815-4ED7-AC99-0BBB8341D6C9}" destId="{3549D846-5300-45FE-8429-49863C9BB9D9}" srcOrd="2" destOrd="0" presId="urn:microsoft.com/office/officeart/2018/2/layout/IconVerticalSolidList"/>
    <dgm:cxn modelId="{FAED1DF6-C027-4CD6-8A1F-62435956D34B}" type="presParOf" srcId="{3549D846-5300-45FE-8429-49863C9BB9D9}" destId="{844074DA-81BE-4458-9CCD-74F44E15EDFD}" srcOrd="0" destOrd="0" presId="urn:microsoft.com/office/officeart/2018/2/layout/IconVerticalSolidList"/>
    <dgm:cxn modelId="{3B7C30C8-21F8-4294-9EBC-99279EC620AC}" type="presParOf" srcId="{3549D846-5300-45FE-8429-49863C9BB9D9}" destId="{494FCCAA-D2D2-4024-9460-5C52E22197E1}" srcOrd="1" destOrd="0" presId="urn:microsoft.com/office/officeart/2018/2/layout/IconVerticalSolidList"/>
    <dgm:cxn modelId="{BA666C4F-63FC-4905-ADF9-F9031B2FF6E2}" type="presParOf" srcId="{3549D846-5300-45FE-8429-49863C9BB9D9}" destId="{89BD3CBA-95EE-477C-99FF-2D96293DB1A3}" srcOrd="2" destOrd="0" presId="urn:microsoft.com/office/officeart/2018/2/layout/IconVerticalSolidList"/>
    <dgm:cxn modelId="{1B829D00-4328-46CA-9B86-CB6D93B28052}" type="presParOf" srcId="{3549D846-5300-45FE-8429-49863C9BB9D9}" destId="{9635BCE4-68C7-452C-AE0B-F51C0BF7CA54}" srcOrd="3" destOrd="0" presId="urn:microsoft.com/office/officeart/2018/2/layout/IconVerticalSolidList"/>
    <dgm:cxn modelId="{9C17640A-1919-475A-9AB4-ADF2056E7310}" type="presParOf" srcId="{F3F4A0EC-3815-4ED7-AC99-0BBB8341D6C9}" destId="{00DB949C-B4A2-44D7-A3D8-C1E76A9401F4}" srcOrd="3" destOrd="0" presId="urn:microsoft.com/office/officeart/2018/2/layout/IconVerticalSolidList"/>
    <dgm:cxn modelId="{E6B0461F-7A0F-4D4B-9378-FB6DAC78DF3E}" type="presParOf" srcId="{F3F4A0EC-3815-4ED7-AC99-0BBB8341D6C9}" destId="{6F4755AA-4C07-4A41-8F1E-0DA032F597CC}" srcOrd="4" destOrd="0" presId="urn:microsoft.com/office/officeart/2018/2/layout/IconVerticalSolidList"/>
    <dgm:cxn modelId="{4C35CCF0-8966-4109-943B-BE03599578CA}" type="presParOf" srcId="{6F4755AA-4C07-4A41-8F1E-0DA032F597CC}" destId="{43170F48-1BFF-4FAC-BD85-811A6398C1C0}" srcOrd="0" destOrd="0" presId="urn:microsoft.com/office/officeart/2018/2/layout/IconVerticalSolidList"/>
    <dgm:cxn modelId="{C274B44B-6EC5-4273-84C9-5AB1D11F73AE}" type="presParOf" srcId="{6F4755AA-4C07-4A41-8F1E-0DA032F597CC}" destId="{92B91808-F50C-4DBA-955B-332A607744A2}" srcOrd="1" destOrd="0" presId="urn:microsoft.com/office/officeart/2018/2/layout/IconVerticalSolidList"/>
    <dgm:cxn modelId="{D7E02E13-5C9E-420C-AAB2-F074485D61A1}" type="presParOf" srcId="{6F4755AA-4C07-4A41-8F1E-0DA032F597CC}" destId="{E7FF4E20-C2FB-4C55-9095-7564AA680284}" srcOrd="2" destOrd="0" presId="urn:microsoft.com/office/officeart/2018/2/layout/IconVerticalSolidList"/>
    <dgm:cxn modelId="{5D2843FA-881B-41B9-9C17-3F3BC7AB97C1}" type="presParOf" srcId="{6F4755AA-4C07-4A41-8F1E-0DA032F597CC}" destId="{4743EF21-CDE6-4F5E-B3B7-89A0D02B86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2953D6-15C6-490D-83F6-C412557FE95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A22C07-CEC7-4E01-94CA-6C92D44724E7}">
      <dgm:prSet/>
      <dgm:spPr/>
      <dgm:t>
        <a:bodyPr/>
        <a:lstStyle/>
        <a:p>
          <a:r>
            <a:rPr lang="en-US"/>
            <a:t>Emergent abilities of LLMs: enable complex reasoning</a:t>
          </a:r>
        </a:p>
      </dgm:t>
    </dgm:pt>
    <dgm:pt modelId="{BE937DDF-568E-4A31-8A5D-D69409DCA2DF}" type="parTrans" cxnId="{D31677B8-A799-439C-930E-9E0CD20B2F70}">
      <dgm:prSet/>
      <dgm:spPr/>
      <dgm:t>
        <a:bodyPr/>
        <a:lstStyle/>
        <a:p>
          <a:endParaRPr lang="en-US"/>
        </a:p>
      </dgm:t>
    </dgm:pt>
    <dgm:pt modelId="{1A2CF1AE-D963-4CD4-8D2F-F63152490F06}" type="sibTrans" cxnId="{D31677B8-A799-439C-930E-9E0CD20B2F70}">
      <dgm:prSet/>
      <dgm:spPr/>
      <dgm:t>
        <a:bodyPr/>
        <a:lstStyle/>
        <a:p>
          <a:endParaRPr lang="en-US"/>
        </a:p>
      </dgm:t>
    </dgm:pt>
    <dgm:pt modelId="{D6E3752A-BEAA-475C-BC92-0AF3912192F5}">
      <dgm:prSet/>
      <dgm:spPr/>
      <dgm:t>
        <a:bodyPr/>
        <a:lstStyle/>
        <a:p>
          <a:r>
            <a:rPr lang="en-US"/>
            <a:t>Prompting techniques (Zero-Shot, Chain-of-Thought, etc.) guide LLMs</a:t>
          </a:r>
          <a:br>
            <a:rPr lang="en-US"/>
          </a:br>
          <a:r>
            <a:rPr lang="en-US"/>
            <a:t>toward structured reasoning paths rather than surface pattern matching.</a:t>
          </a:r>
        </a:p>
      </dgm:t>
    </dgm:pt>
    <dgm:pt modelId="{AE354938-DEFA-46BC-B424-416DD633691F}" type="parTrans" cxnId="{418D4D47-EE29-4E8E-BC8E-76F3ED470897}">
      <dgm:prSet/>
      <dgm:spPr/>
      <dgm:t>
        <a:bodyPr/>
        <a:lstStyle/>
        <a:p>
          <a:endParaRPr lang="en-US"/>
        </a:p>
      </dgm:t>
    </dgm:pt>
    <dgm:pt modelId="{D689EB08-A43D-4A70-8CB7-183F821D3F7B}" type="sibTrans" cxnId="{418D4D47-EE29-4E8E-BC8E-76F3ED470897}">
      <dgm:prSet/>
      <dgm:spPr/>
      <dgm:t>
        <a:bodyPr/>
        <a:lstStyle/>
        <a:p>
          <a:endParaRPr lang="en-US"/>
        </a:p>
      </dgm:t>
    </dgm:pt>
    <dgm:pt modelId="{3B899A22-F00C-4673-84D2-DF240B22D942}">
      <dgm:prSet/>
      <dgm:spPr/>
      <dgm:t>
        <a:bodyPr/>
        <a:lstStyle/>
        <a:p>
          <a:r>
            <a:rPr lang="en-US"/>
            <a:t>Large Reasoning Models (LRMs): extend this paradigm by </a:t>
          </a:r>
          <a:r>
            <a:rPr lang="en-US" b="1"/>
            <a:t>explicitly training</a:t>
          </a:r>
          <a:r>
            <a:rPr lang="en-US"/>
            <a:t> on reasoning traces and intermediate thought steps, encouraging more systematic and verifiable logic rather than implicit pattern imitation.</a:t>
          </a:r>
        </a:p>
      </dgm:t>
    </dgm:pt>
    <dgm:pt modelId="{9B456801-72C5-447F-9F5F-6010BB059FBA}" type="parTrans" cxnId="{A84A5ECE-E085-45FD-B087-64AB60E5CDE2}">
      <dgm:prSet/>
      <dgm:spPr/>
      <dgm:t>
        <a:bodyPr/>
        <a:lstStyle/>
        <a:p>
          <a:endParaRPr lang="en-US"/>
        </a:p>
      </dgm:t>
    </dgm:pt>
    <dgm:pt modelId="{7C29375E-98F2-4C2B-86C1-527A3AF04006}" type="sibTrans" cxnId="{A84A5ECE-E085-45FD-B087-64AB60E5CDE2}">
      <dgm:prSet/>
      <dgm:spPr/>
      <dgm:t>
        <a:bodyPr/>
        <a:lstStyle/>
        <a:p>
          <a:endParaRPr lang="en-US"/>
        </a:p>
      </dgm:t>
    </dgm:pt>
    <dgm:pt modelId="{58100357-B81A-4069-A76D-DEE04D35AEBE}" type="pres">
      <dgm:prSet presAssocID="{0E2953D6-15C6-490D-83F6-C412557FE954}" presName="root" presStyleCnt="0">
        <dgm:presLayoutVars>
          <dgm:dir/>
          <dgm:resizeHandles val="exact"/>
        </dgm:presLayoutVars>
      </dgm:prSet>
      <dgm:spPr/>
    </dgm:pt>
    <dgm:pt modelId="{E3FCEBDD-D64B-44EC-9B0E-D9E98DACEDAB}" type="pres">
      <dgm:prSet presAssocID="{38A22C07-CEC7-4E01-94CA-6C92D44724E7}" presName="compNode" presStyleCnt="0"/>
      <dgm:spPr/>
    </dgm:pt>
    <dgm:pt modelId="{43536F27-D324-4B61-ADD8-D054BA25F624}" type="pres">
      <dgm:prSet presAssocID="{38A22C07-CEC7-4E01-94CA-6C92D44724E7}" presName="bgRect" presStyleLbl="bgShp" presStyleIdx="0" presStyleCnt="3"/>
      <dgm:spPr/>
    </dgm:pt>
    <dgm:pt modelId="{F03B51A9-0C75-4078-89DF-8BECAC34C461}" type="pres">
      <dgm:prSet presAssocID="{38A22C07-CEC7-4E01-94CA-6C92D44724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22E7C41-2B90-46A4-B4C3-DBBEBED95C6F}" type="pres">
      <dgm:prSet presAssocID="{38A22C07-CEC7-4E01-94CA-6C92D44724E7}" presName="spaceRect" presStyleCnt="0"/>
      <dgm:spPr/>
    </dgm:pt>
    <dgm:pt modelId="{A8B40D11-FE75-4126-8A79-9067A1F90C78}" type="pres">
      <dgm:prSet presAssocID="{38A22C07-CEC7-4E01-94CA-6C92D44724E7}" presName="parTx" presStyleLbl="revTx" presStyleIdx="0" presStyleCnt="3">
        <dgm:presLayoutVars>
          <dgm:chMax val="0"/>
          <dgm:chPref val="0"/>
        </dgm:presLayoutVars>
      </dgm:prSet>
      <dgm:spPr/>
    </dgm:pt>
    <dgm:pt modelId="{5FCFC720-6D51-45E9-869C-C27D3F47BFE0}" type="pres">
      <dgm:prSet presAssocID="{1A2CF1AE-D963-4CD4-8D2F-F63152490F06}" presName="sibTrans" presStyleCnt="0"/>
      <dgm:spPr/>
    </dgm:pt>
    <dgm:pt modelId="{726C8099-5BA3-41DF-893E-AF2671FE2FF7}" type="pres">
      <dgm:prSet presAssocID="{D6E3752A-BEAA-475C-BC92-0AF3912192F5}" presName="compNode" presStyleCnt="0"/>
      <dgm:spPr/>
    </dgm:pt>
    <dgm:pt modelId="{D79B4438-BAF9-4CFE-B247-A891A999D88D}" type="pres">
      <dgm:prSet presAssocID="{D6E3752A-BEAA-475C-BC92-0AF3912192F5}" presName="bgRect" presStyleLbl="bgShp" presStyleIdx="1" presStyleCnt="3"/>
      <dgm:spPr/>
    </dgm:pt>
    <dgm:pt modelId="{922F2F7D-C7F6-4FA4-88B2-DADB6C887CA8}" type="pres">
      <dgm:prSet presAssocID="{D6E3752A-BEAA-475C-BC92-0AF3912192F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BCC6228-ED5B-4216-8A9E-FE88143011AA}" type="pres">
      <dgm:prSet presAssocID="{D6E3752A-BEAA-475C-BC92-0AF3912192F5}" presName="spaceRect" presStyleCnt="0"/>
      <dgm:spPr/>
    </dgm:pt>
    <dgm:pt modelId="{D0EFE94C-B4D9-414C-AD05-240734914BEE}" type="pres">
      <dgm:prSet presAssocID="{D6E3752A-BEAA-475C-BC92-0AF3912192F5}" presName="parTx" presStyleLbl="revTx" presStyleIdx="1" presStyleCnt="3">
        <dgm:presLayoutVars>
          <dgm:chMax val="0"/>
          <dgm:chPref val="0"/>
        </dgm:presLayoutVars>
      </dgm:prSet>
      <dgm:spPr/>
    </dgm:pt>
    <dgm:pt modelId="{5D0500B2-9B85-475D-AAEC-77800A86B096}" type="pres">
      <dgm:prSet presAssocID="{D689EB08-A43D-4A70-8CB7-183F821D3F7B}" presName="sibTrans" presStyleCnt="0"/>
      <dgm:spPr/>
    </dgm:pt>
    <dgm:pt modelId="{C0DE9060-E177-4184-8E56-3B4E65956C35}" type="pres">
      <dgm:prSet presAssocID="{3B899A22-F00C-4673-84D2-DF240B22D942}" presName="compNode" presStyleCnt="0"/>
      <dgm:spPr/>
    </dgm:pt>
    <dgm:pt modelId="{5398E980-6EFE-4FED-9F75-37E0BF8D3C69}" type="pres">
      <dgm:prSet presAssocID="{3B899A22-F00C-4673-84D2-DF240B22D942}" presName="bgRect" presStyleLbl="bgShp" presStyleIdx="2" presStyleCnt="3"/>
      <dgm:spPr/>
    </dgm:pt>
    <dgm:pt modelId="{64831397-0B19-4E31-8E89-87BA35B5DCDF}" type="pres">
      <dgm:prSet presAssocID="{3B899A22-F00C-4673-84D2-DF240B22D9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BE1A6C62-B590-4DEB-ABB3-D75642D621FE}" type="pres">
      <dgm:prSet presAssocID="{3B899A22-F00C-4673-84D2-DF240B22D942}" presName="spaceRect" presStyleCnt="0"/>
      <dgm:spPr/>
    </dgm:pt>
    <dgm:pt modelId="{CBF5B497-813F-41E8-847C-9DDAFE351A2E}" type="pres">
      <dgm:prSet presAssocID="{3B899A22-F00C-4673-84D2-DF240B22D9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BE2429-8F85-41B1-98D4-6B04870F0048}" type="presOf" srcId="{0E2953D6-15C6-490D-83F6-C412557FE954}" destId="{58100357-B81A-4069-A76D-DEE04D35AEBE}" srcOrd="0" destOrd="0" presId="urn:microsoft.com/office/officeart/2018/2/layout/IconVerticalSolidList"/>
    <dgm:cxn modelId="{418D4D47-EE29-4E8E-BC8E-76F3ED470897}" srcId="{0E2953D6-15C6-490D-83F6-C412557FE954}" destId="{D6E3752A-BEAA-475C-BC92-0AF3912192F5}" srcOrd="1" destOrd="0" parTransId="{AE354938-DEFA-46BC-B424-416DD633691F}" sibTransId="{D689EB08-A43D-4A70-8CB7-183F821D3F7B}"/>
    <dgm:cxn modelId="{DB2E4083-D5D1-4E43-BEB2-B7221B0A7499}" type="presOf" srcId="{38A22C07-CEC7-4E01-94CA-6C92D44724E7}" destId="{A8B40D11-FE75-4126-8A79-9067A1F90C78}" srcOrd="0" destOrd="0" presId="urn:microsoft.com/office/officeart/2018/2/layout/IconVerticalSolidList"/>
    <dgm:cxn modelId="{FD3BAEB6-59FB-431C-89BF-C38F4821D387}" type="presOf" srcId="{D6E3752A-BEAA-475C-BC92-0AF3912192F5}" destId="{D0EFE94C-B4D9-414C-AD05-240734914BEE}" srcOrd="0" destOrd="0" presId="urn:microsoft.com/office/officeart/2018/2/layout/IconVerticalSolidList"/>
    <dgm:cxn modelId="{D31677B8-A799-439C-930E-9E0CD20B2F70}" srcId="{0E2953D6-15C6-490D-83F6-C412557FE954}" destId="{38A22C07-CEC7-4E01-94CA-6C92D44724E7}" srcOrd="0" destOrd="0" parTransId="{BE937DDF-568E-4A31-8A5D-D69409DCA2DF}" sibTransId="{1A2CF1AE-D963-4CD4-8D2F-F63152490F06}"/>
    <dgm:cxn modelId="{A84A5ECE-E085-45FD-B087-64AB60E5CDE2}" srcId="{0E2953D6-15C6-490D-83F6-C412557FE954}" destId="{3B899A22-F00C-4673-84D2-DF240B22D942}" srcOrd="2" destOrd="0" parTransId="{9B456801-72C5-447F-9F5F-6010BB059FBA}" sibTransId="{7C29375E-98F2-4C2B-86C1-527A3AF04006}"/>
    <dgm:cxn modelId="{783219D7-68C1-46CE-AE24-76A89E576C7A}" type="presOf" srcId="{3B899A22-F00C-4673-84D2-DF240B22D942}" destId="{CBF5B497-813F-41E8-847C-9DDAFE351A2E}" srcOrd="0" destOrd="0" presId="urn:microsoft.com/office/officeart/2018/2/layout/IconVerticalSolidList"/>
    <dgm:cxn modelId="{A0D1D313-A259-4242-8BC6-E6D93D919A94}" type="presParOf" srcId="{58100357-B81A-4069-A76D-DEE04D35AEBE}" destId="{E3FCEBDD-D64B-44EC-9B0E-D9E98DACEDAB}" srcOrd="0" destOrd="0" presId="urn:microsoft.com/office/officeart/2018/2/layout/IconVerticalSolidList"/>
    <dgm:cxn modelId="{A2E57300-BE4C-41CE-8DA7-6B7CB2AE381F}" type="presParOf" srcId="{E3FCEBDD-D64B-44EC-9B0E-D9E98DACEDAB}" destId="{43536F27-D324-4B61-ADD8-D054BA25F624}" srcOrd="0" destOrd="0" presId="urn:microsoft.com/office/officeart/2018/2/layout/IconVerticalSolidList"/>
    <dgm:cxn modelId="{6A4A9AF5-D5BA-4F1C-9981-84E0B0F819C2}" type="presParOf" srcId="{E3FCEBDD-D64B-44EC-9B0E-D9E98DACEDAB}" destId="{F03B51A9-0C75-4078-89DF-8BECAC34C461}" srcOrd="1" destOrd="0" presId="urn:microsoft.com/office/officeart/2018/2/layout/IconVerticalSolidList"/>
    <dgm:cxn modelId="{5BD7359B-2E09-4DE3-8101-4BEE5DB66371}" type="presParOf" srcId="{E3FCEBDD-D64B-44EC-9B0E-D9E98DACEDAB}" destId="{522E7C41-2B90-46A4-B4C3-DBBEBED95C6F}" srcOrd="2" destOrd="0" presId="urn:microsoft.com/office/officeart/2018/2/layout/IconVerticalSolidList"/>
    <dgm:cxn modelId="{3606DC3A-98D6-4571-A63F-E79B045B49E4}" type="presParOf" srcId="{E3FCEBDD-D64B-44EC-9B0E-D9E98DACEDAB}" destId="{A8B40D11-FE75-4126-8A79-9067A1F90C78}" srcOrd="3" destOrd="0" presId="urn:microsoft.com/office/officeart/2018/2/layout/IconVerticalSolidList"/>
    <dgm:cxn modelId="{46E33866-13BA-4C7F-9ED9-D96EF580E36E}" type="presParOf" srcId="{58100357-B81A-4069-A76D-DEE04D35AEBE}" destId="{5FCFC720-6D51-45E9-869C-C27D3F47BFE0}" srcOrd="1" destOrd="0" presId="urn:microsoft.com/office/officeart/2018/2/layout/IconVerticalSolidList"/>
    <dgm:cxn modelId="{B5611AB5-B1D0-4FE8-A0D4-ECAF76361601}" type="presParOf" srcId="{58100357-B81A-4069-A76D-DEE04D35AEBE}" destId="{726C8099-5BA3-41DF-893E-AF2671FE2FF7}" srcOrd="2" destOrd="0" presId="urn:microsoft.com/office/officeart/2018/2/layout/IconVerticalSolidList"/>
    <dgm:cxn modelId="{CBE8E27C-376D-4AEE-B606-CF0334C296DD}" type="presParOf" srcId="{726C8099-5BA3-41DF-893E-AF2671FE2FF7}" destId="{D79B4438-BAF9-4CFE-B247-A891A999D88D}" srcOrd="0" destOrd="0" presId="urn:microsoft.com/office/officeart/2018/2/layout/IconVerticalSolidList"/>
    <dgm:cxn modelId="{A27B0254-0914-4EF4-9033-8E5C600076EA}" type="presParOf" srcId="{726C8099-5BA3-41DF-893E-AF2671FE2FF7}" destId="{922F2F7D-C7F6-4FA4-88B2-DADB6C887CA8}" srcOrd="1" destOrd="0" presId="urn:microsoft.com/office/officeart/2018/2/layout/IconVerticalSolidList"/>
    <dgm:cxn modelId="{C41AF553-3F51-4179-AB67-B73DA70B0136}" type="presParOf" srcId="{726C8099-5BA3-41DF-893E-AF2671FE2FF7}" destId="{0BCC6228-ED5B-4216-8A9E-FE88143011AA}" srcOrd="2" destOrd="0" presId="urn:microsoft.com/office/officeart/2018/2/layout/IconVerticalSolidList"/>
    <dgm:cxn modelId="{794B5F3D-3B25-417A-8064-E22E3BA16272}" type="presParOf" srcId="{726C8099-5BA3-41DF-893E-AF2671FE2FF7}" destId="{D0EFE94C-B4D9-414C-AD05-240734914BEE}" srcOrd="3" destOrd="0" presId="urn:microsoft.com/office/officeart/2018/2/layout/IconVerticalSolidList"/>
    <dgm:cxn modelId="{B005E7E8-F1D4-4E36-BEAE-F9D74834B990}" type="presParOf" srcId="{58100357-B81A-4069-A76D-DEE04D35AEBE}" destId="{5D0500B2-9B85-475D-AAEC-77800A86B096}" srcOrd="3" destOrd="0" presId="urn:microsoft.com/office/officeart/2018/2/layout/IconVerticalSolidList"/>
    <dgm:cxn modelId="{8F5C02BE-EAA2-4121-ABEB-2847EE91E4F8}" type="presParOf" srcId="{58100357-B81A-4069-A76D-DEE04D35AEBE}" destId="{C0DE9060-E177-4184-8E56-3B4E65956C35}" srcOrd="4" destOrd="0" presId="urn:microsoft.com/office/officeart/2018/2/layout/IconVerticalSolidList"/>
    <dgm:cxn modelId="{CEF67C06-99B3-40C4-8756-298B749BC75D}" type="presParOf" srcId="{C0DE9060-E177-4184-8E56-3B4E65956C35}" destId="{5398E980-6EFE-4FED-9F75-37E0BF8D3C69}" srcOrd="0" destOrd="0" presId="urn:microsoft.com/office/officeart/2018/2/layout/IconVerticalSolidList"/>
    <dgm:cxn modelId="{33579A83-1D04-4B99-9133-3EDEFB9F8C76}" type="presParOf" srcId="{C0DE9060-E177-4184-8E56-3B4E65956C35}" destId="{64831397-0B19-4E31-8E89-87BA35B5DCDF}" srcOrd="1" destOrd="0" presId="urn:microsoft.com/office/officeart/2018/2/layout/IconVerticalSolidList"/>
    <dgm:cxn modelId="{CDB21886-03B0-4B12-A645-0C769A3E9A33}" type="presParOf" srcId="{C0DE9060-E177-4184-8E56-3B4E65956C35}" destId="{BE1A6C62-B590-4DEB-ABB3-D75642D621FE}" srcOrd="2" destOrd="0" presId="urn:microsoft.com/office/officeart/2018/2/layout/IconVerticalSolidList"/>
    <dgm:cxn modelId="{B635C90E-ACED-46E5-8988-3C881B428D7D}" type="presParOf" srcId="{C0DE9060-E177-4184-8E56-3B4E65956C35}" destId="{CBF5B497-813F-41E8-847C-9DDAFE351A2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1CB539-2FAB-4356-95A0-FE1DBA48717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3B93B5-87ED-4C3D-9482-002F4AE910D4}">
      <dgm:prSet/>
      <dgm:spPr/>
      <dgm:t>
        <a:bodyPr/>
        <a:lstStyle/>
        <a:p>
          <a:r>
            <a:rPr lang="en-US" dirty="0"/>
            <a:t>Strategic interactions between rational players.</a:t>
          </a:r>
        </a:p>
      </dgm:t>
    </dgm:pt>
    <dgm:pt modelId="{B19A0176-3B3D-4CE7-90B0-B3C50F0C6F1F}" type="parTrans" cxnId="{DB6D52A3-D80E-4C75-B5E8-64169FD77509}">
      <dgm:prSet/>
      <dgm:spPr/>
      <dgm:t>
        <a:bodyPr/>
        <a:lstStyle/>
        <a:p>
          <a:endParaRPr lang="en-US"/>
        </a:p>
      </dgm:t>
    </dgm:pt>
    <dgm:pt modelId="{6CA3FB32-9E78-4544-A6BE-541F54EB8A67}" type="sibTrans" cxnId="{DB6D52A3-D80E-4C75-B5E8-64169FD77509}">
      <dgm:prSet/>
      <dgm:spPr/>
      <dgm:t>
        <a:bodyPr/>
        <a:lstStyle/>
        <a:p>
          <a:endParaRPr lang="en-US"/>
        </a:p>
      </dgm:t>
    </dgm:pt>
    <dgm:pt modelId="{D4C99434-2BA2-4B7F-A48A-563B015C67CF}">
      <dgm:prSet/>
      <dgm:spPr/>
      <dgm:t>
        <a:bodyPr/>
        <a:lstStyle/>
        <a:p>
          <a:r>
            <a:rPr lang="en-US" dirty="0"/>
            <a:t>Key concepts:</a:t>
          </a:r>
        </a:p>
      </dgm:t>
    </dgm:pt>
    <dgm:pt modelId="{943D600E-3561-4562-AE6F-26DD839DA701}" type="parTrans" cxnId="{0B8A5B45-B21A-48DC-A6EB-16D8DC3EE0CF}">
      <dgm:prSet/>
      <dgm:spPr/>
      <dgm:t>
        <a:bodyPr/>
        <a:lstStyle/>
        <a:p>
          <a:endParaRPr lang="en-US"/>
        </a:p>
      </dgm:t>
    </dgm:pt>
    <dgm:pt modelId="{5D825738-0EB6-4422-999F-42C7507D6785}" type="sibTrans" cxnId="{0B8A5B45-B21A-48DC-A6EB-16D8DC3EE0CF}">
      <dgm:prSet/>
      <dgm:spPr/>
      <dgm:t>
        <a:bodyPr/>
        <a:lstStyle/>
        <a:p>
          <a:endParaRPr lang="en-US"/>
        </a:p>
      </dgm:t>
    </dgm:pt>
    <dgm:pt modelId="{40A973FD-9CC1-46C3-BA87-D9D2C2C46EB4}">
      <dgm:prSet/>
      <dgm:spPr/>
      <dgm:t>
        <a:bodyPr/>
        <a:lstStyle/>
        <a:p>
          <a:r>
            <a:rPr lang="en-US" b="1" dirty="0"/>
            <a:t>Nash Equilibrium</a:t>
          </a:r>
          <a:r>
            <a:rPr lang="en-US" dirty="0"/>
            <a:t>: State where no player is better off by changing their strategy, assuming that all other players’ strategies remain unchanged.</a:t>
          </a:r>
        </a:p>
      </dgm:t>
    </dgm:pt>
    <dgm:pt modelId="{DC330CF4-7961-40DD-B3D8-CF916FFC9470}" type="parTrans" cxnId="{D6AC8905-B3C8-4C50-ABDA-DD7887200129}">
      <dgm:prSet/>
      <dgm:spPr/>
      <dgm:t>
        <a:bodyPr/>
        <a:lstStyle/>
        <a:p>
          <a:endParaRPr lang="en-US"/>
        </a:p>
      </dgm:t>
    </dgm:pt>
    <dgm:pt modelId="{07FEEC58-D7AC-45C3-A4BD-B461E21D51A2}" type="sibTrans" cxnId="{D6AC8905-B3C8-4C50-ABDA-DD7887200129}">
      <dgm:prSet/>
      <dgm:spPr/>
      <dgm:t>
        <a:bodyPr/>
        <a:lstStyle/>
        <a:p>
          <a:endParaRPr lang="en-US"/>
        </a:p>
      </dgm:t>
    </dgm:pt>
    <dgm:pt modelId="{68A91ECE-1269-4C88-B365-6F00B6DFCCC9}">
      <dgm:prSet/>
      <dgm:spPr/>
      <dgm:t>
        <a:bodyPr/>
        <a:lstStyle/>
        <a:p>
          <a:r>
            <a:rPr lang="en-US" b="1" dirty="0"/>
            <a:t>Indifference Property</a:t>
          </a:r>
          <a:r>
            <a:rPr lang="en-US" dirty="0"/>
            <a:t>: At Nash Equilibrium a player is indifferent to choosing any* of the strategies, because they all yield the same expected payoff.</a:t>
          </a:r>
        </a:p>
      </dgm:t>
    </dgm:pt>
    <dgm:pt modelId="{4AB01D20-1887-40CD-A41C-8A1C75B80D86}" type="parTrans" cxnId="{F29BC9BB-7A36-4F1A-B1F6-456C247B00B5}">
      <dgm:prSet/>
      <dgm:spPr/>
      <dgm:t>
        <a:bodyPr/>
        <a:lstStyle/>
        <a:p>
          <a:endParaRPr lang="en-US"/>
        </a:p>
      </dgm:t>
    </dgm:pt>
    <dgm:pt modelId="{EC633977-232F-4509-816B-CB81FF549019}" type="sibTrans" cxnId="{F29BC9BB-7A36-4F1A-B1F6-456C247B00B5}">
      <dgm:prSet/>
      <dgm:spPr/>
      <dgm:t>
        <a:bodyPr/>
        <a:lstStyle/>
        <a:p>
          <a:endParaRPr lang="en-US"/>
        </a:p>
      </dgm:t>
    </dgm:pt>
    <dgm:pt modelId="{5CFEFC63-ED1A-48C7-BBCF-4DC05ED165C7}">
      <dgm:prSet/>
      <dgm:spPr/>
      <dgm:t>
        <a:bodyPr/>
        <a:lstStyle/>
        <a:p>
          <a:r>
            <a:rPr lang="en-US" b="1" dirty="0"/>
            <a:t>Repeated Games</a:t>
          </a:r>
          <a:r>
            <a:rPr lang="en-US" dirty="0"/>
            <a:t>: Gives games a temporal aspect. Cooperation/retaliation is possible; complex strategies can arise from accumulating information about the opponent.</a:t>
          </a:r>
        </a:p>
      </dgm:t>
    </dgm:pt>
    <dgm:pt modelId="{2C411E77-DEC6-4B84-A9EB-24B368CBF9D4}" type="parTrans" cxnId="{9D4BA848-C293-47DD-8B37-FBDABAA0DD5F}">
      <dgm:prSet/>
      <dgm:spPr/>
      <dgm:t>
        <a:bodyPr/>
        <a:lstStyle/>
        <a:p>
          <a:endParaRPr lang="en-US"/>
        </a:p>
      </dgm:t>
    </dgm:pt>
    <dgm:pt modelId="{320416BF-046B-4D7D-ABC5-9CCAA72373BD}" type="sibTrans" cxnId="{9D4BA848-C293-47DD-8B37-FBDABAA0DD5F}">
      <dgm:prSet/>
      <dgm:spPr/>
      <dgm:t>
        <a:bodyPr/>
        <a:lstStyle/>
        <a:p>
          <a:endParaRPr lang="en-US"/>
        </a:p>
      </dgm:t>
    </dgm:pt>
    <dgm:pt modelId="{90BE4E59-D5A2-42C8-8873-83C224889154}">
      <dgm:prSet/>
      <dgm:spPr/>
      <dgm:t>
        <a:bodyPr/>
        <a:lstStyle/>
        <a:p>
          <a:r>
            <a:rPr lang="en-US" b="1" dirty="0"/>
            <a:t>Payoff Matrix</a:t>
          </a:r>
          <a:r>
            <a:rPr lang="en-US" dirty="0"/>
            <a:t>: (next slide)</a:t>
          </a:r>
        </a:p>
      </dgm:t>
    </dgm:pt>
    <dgm:pt modelId="{017ABDB5-DD6D-48BB-ABB0-AE092D771DA7}" type="parTrans" cxnId="{B6739FE6-B917-4469-B3F5-E872661EF604}">
      <dgm:prSet/>
      <dgm:spPr/>
      <dgm:t>
        <a:bodyPr/>
        <a:lstStyle/>
        <a:p>
          <a:endParaRPr lang="en-US"/>
        </a:p>
      </dgm:t>
    </dgm:pt>
    <dgm:pt modelId="{25C8A741-DEEF-480B-BFB0-6CEB995BDA7E}" type="sibTrans" cxnId="{B6739FE6-B917-4469-B3F5-E872661EF604}">
      <dgm:prSet/>
      <dgm:spPr/>
      <dgm:t>
        <a:bodyPr/>
        <a:lstStyle/>
        <a:p>
          <a:endParaRPr lang="en-US"/>
        </a:p>
      </dgm:t>
    </dgm:pt>
    <dgm:pt modelId="{A32BD9FC-CC7D-45D5-9481-060008E2DAA0}" type="pres">
      <dgm:prSet presAssocID="{261CB539-2FAB-4356-95A0-FE1DBA48717E}" presName="linear" presStyleCnt="0">
        <dgm:presLayoutVars>
          <dgm:animLvl val="lvl"/>
          <dgm:resizeHandles val="exact"/>
        </dgm:presLayoutVars>
      </dgm:prSet>
      <dgm:spPr/>
    </dgm:pt>
    <dgm:pt modelId="{CB1A1ED7-1E14-408A-888F-BB552E7FE699}" type="pres">
      <dgm:prSet presAssocID="{473B93B5-87ED-4C3D-9482-002F4AE910D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ADCB3F-21F5-4EA6-844D-6A065FD144DB}" type="pres">
      <dgm:prSet presAssocID="{6CA3FB32-9E78-4544-A6BE-541F54EB8A67}" presName="spacer" presStyleCnt="0"/>
      <dgm:spPr/>
    </dgm:pt>
    <dgm:pt modelId="{32ABDEE3-E848-4747-B5FD-0D24A06133D7}" type="pres">
      <dgm:prSet presAssocID="{D4C99434-2BA2-4B7F-A48A-563B015C67C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43094C-4A35-476F-A1DD-C24F9B306499}" type="pres">
      <dgm:prSet presAssocID="{D4C99434-2BA2-4B7F-A48A-563B015C67C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6AC8905-B3C8-4C50-ABDA-DD7887200129}" srcId="{D4C99434-2BA2-4B7F-A48A-563B015C67CF}" destId="{40A973FD-9CC1-46C3-BA87-D9D2C2C46EB4}" srcOrd="0" destOrd="0" parTransId="{DC330CF4-7961-40DD-B3D8-CF916FFC9470}" sibTransId="{07FEEC58-D7AC-45C3-A4BD-B461E21D51A2}"/>
    <dgm:cxn modelId="{85F0C31D-E4F8-4379-9452-D0D2ED06AD27}" type="presOf" srcId="{261CB539-2FAB-4356-95A0-FE1DBA48717E}" destId="{A32BD9FC-CC7D-45D5-9481-060008E2DAA0}" srcOrd="0" destOrd="0" presId="urn:microsoft.com/office/officeart/2005/8/layout/vList2"/>
    <dgm:cxn modelId="{FBBCF127-4CAD-42FA-A13E-0905FB248F12}" type="presOf" srcId="{D4C99434-2BA2-4B7F-A48A-563B015C67CF}" destId="{32ABDEE3-E848-4747-B5FD-0D24A06133D7}" srcOrd="0" destOrd="0" presId="urn:microsoft.com/office/officeart/2005/8/layout/vList2"/>
    <dgm:cxn modelId="{E606EB3D-6F3F-453A-8722-0318815F8F54}" type="presOf" srcId="{40A973FD-9CC1-46C3-BA87-D9D2C2C46EB4}" destId="{D743094C-4A35-476F-A1DD-C24F9B306499}" srcOrd="0" destOrd="0" presId="urn:microsoft.com/office/officeart/2005/8/layout/vList2"/>
    <dgm:cxn modelId="{0B8A5B45-B21A-48DC-A6EB-16D8DC3EE0CF}" srcId="{261CB539-2FAB-4356-95A0-FE1DBA48717E}" destId="{D4C99434-2BA2-4B7F-A48A-563B015C67CF}" srcOrd="1" destOrd="0" parTransId="{943D600E-3561-4562-AE6F-26DD839DA701}" sibTransId="{5D825738-0EB6-4422-999F-42C7507D6785}"/>
    <dgm:cxn modelId="{22876E48-4BDF-4092-B1B2-EDB58A25B59F}" type="presOf" srcId="{473B93B5-87ED-4C3D-9482-002F4AE910D4}" destId="{CB1A1ED7-1E14-408A-888F-BB552E7FE699}" srcOrd="0" destOrd="0" presId="urn:microsoft.com/office/officeart/2005/8/layout/vList2"/>
    <dgm:cxn modelId="{9D4BA848-C293-47DD-8B37-FBDABAA0DD5F}" srcId="{D4C99434-2BA2-4B7F-A48A-563B015C67CF}" destId="{5CFEFC63-ED1A-48C7-BBCF-4DC05ED165C7}" srcOrd="2" destOrd="0" parTransId="{2C411E77-DEC6-4B84-A9EB-24B368CBF9D4}" sibTransId="{320416BF-046B-4D7D-ABC5-9CCAA72373BD}"/>
    <dgm:cxn modelId="{9B122684-2032-4FE7-93B4-919DF6CE8DF8}" type="presOf" srcId="{90BE4E59-D5A2-42C8-8873-83C224889154}" destId="{D743094C-4A35-476F-A1DD-C24F9B306499}" srcOrd="0" destOrd="3" presId="urn:microsoft.com/office/officeart/2005/8/layout/vList2"/>
    <dgm:cxn modelId="{DB6D52A3-D80E-4C75-B5E8-64169FD77509}" srcId="{261CB539-2FAB-4356-95A0-FE1DBA48717E}" destId="{473B93B5-87ED-4C3D-9482-002F4AE910D4}" srcOrd="0" destOrd="0" parTransId="{B19A0176-3B3D-4CE7-90B0-B3C50F0C6F1F}" sibTransId="{6CA3FB32-9E78-4544-A6BE-541F54EB8A67}"/>
    <dgm:cxn modelId="{FA2C5BB9-C265-4EC8-B072-D91406CF0E45}" type="presOf" srcId="{68A91ECE-1269-4C88-B365-6F00B6DFCCC9}" destId="{D743094C-4A35-476F-A1DD-C24F9B306499}" srcOrd="0" destOrd="1" presId="urn:microsoft.com/office/officeart/2005/8/layout/vList2"/>
    <dgm:cxn modelId="{F29BC9BB-7A36-4F1A-B1F6-456C247B00B5}" srcId="{D4C99434-2BA2-4B7F-A48A-563B015C67CF}" destId="{68A91ECE-1269-4C88-B365-6F00B6DFCCC9}" srcOrd="1" destOrd="0" parTransId="{4AB01D20-1887-40CD-A41C-8A1C75B80D86}" sibTransId="{EC633977-232F-4509-816B-CB81FF549019}"/>
    <dgm:cxn modelId="{B6739FE6-B917-4469-B3F5-E872661EF604}" srcId="{D4C99434-2BA2-4B7F-A48A-563B015C67CF}" destId="{90BE4E59-D5A2-42C8-8873-83C224889154}" srcOrd="3" destOrd="0" parTransId="{017ABDB5-DD6D-48BB-ABB0-AE092D771DA7}" sibTransId="{25C8A741-DEEF-480B-BFB0-6CEB995BDA7E}"/>
    <dgm:cxn modelId="{9AF756EE-B209-4D2F-A37D-F70EBA5A79E0}" type="presOf" srcId="{5CFEFC63-ED1A-48C7-BBCF-4DC05ED165C7}" destId="{D743094C-4A35-476F-A1DD-C24F9B306499}" srcOrd="0" destOrd="2" presId="urn:microsoft.com/office/officeart/2005/8/layout/vList2"/>
    <dgm:cxn modelId="{E2BA0135-601C-4B07-A553-224CA4E683F5}" type="presParOf" srcId="{A32BD9FC-CC7D-45D5-9481-060008E2DAA0}" destId="{CB1A1ED7-1E14-408A-888F-BB552E7FE699}" srcOrd="0" destOrd="0" presId="urn:microsoft.com/office/officeart/2005/8/layout/vList2"/>
    <dgm:cxn modelId="{8C9C5E11-3632-4ABD-A50C-D87DB3587FD1}" type="presParOf" srcId="{A32BD9FC-CC7D-45D5-9481-060008E2DAA0}" destId="{19ADCB3F-21F5-4EA6-844D-6A065FD144DB}" srcOrd="1" destOrd="0" presId="urn:microsoft.com/office/officeart/2005/8/layout/vList2"/>
    <dgm:cxn modelId="{0695A530-2646-4FAB-8D41-B606F60F4879}" type="presParOf" srcId="{A32BD9FC-CC7D-45D5-9481-060008E2DAA0}" destId="{32ABDEE3-E848-4747-B5FD-0D24A06133D7}" srcOrd="2" destOrd="0" presId="urn:microsoft.com/office/officeart/2005/8/layout/vList2"/>
    <dgm:cxn modelId="{B267BAB8-70B5-47C7-9F1E-7F2F60490784}" type="presParOf" srcId="{A32BD9FC-CC7D-45D5-9481-060008E2DAA0}" destId="{D743094C-4A35-476F-A1DD-C24F9B30649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5893BB-3787-430B-843B-11B9CD2C985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152EF0-560A-4A41-A29E-12F3F0C1009E}">
      <dgm:prSet/>
      <dgm:spPr/>
      <dgm:t>
        <a:bodyPr/>
        <a:lstStyle/>
        <a:p>
          <a:r>
            <a:rPr lang="en-US" dirty="0"/>
            <a:t>Experimentation on popular and advanced LLMs and result comparison with other research.</a:t>
          </a:r>
        </a:p>
      </dgm:t>
    </dgm:pt>
    <dgm:pt modelId="{9234AC3A-C103-4B64-A818-4918C0AECF32}" type="parTrans" cxnId="{47A1A8E5-4F30-45FE-8F30-A81E9AD3F566}">
      <dgm:prSet/>
      <dgm:spPr/>
      <dgm:t>
        <a:bodyPr/>
        <a:lstStyle/>
        <a:p>
          <a:endParaRPr lang="en-US"/>
        </a:p>
      </dgm:t>
    </dgm:pt>
    <dgm:pt modelId="{A99EEFD8-1A00-4A98-BF0A-6AB29989E67D}" type="sibTrans" cxnId="{47A1A8E5-4F30-45FE-8F30-A81E9AD3F566}">
      <dgm:prSet/>
      <dgm:spPr/>
      <dgm:t>
        <a:bodyPr/>
        <a:lstStyle/>
        <a:p>
          <a:endParaRPr lang="en-US"/>
        </a:p>
      </dgm:t>
    </dgm:pt>
    <dgm:pt modelId="{37CC56BF-4AF8-4084-A1EA-B7B282B7674C}">
      <dgm:prSet/>
      <dgm:spPr/>
      <dgm:t>
        <a:bodyPr/>
        <a:lstStyle/>
        <a:p>
          <a:r>
            <a:rPr lang="en-US" dirty="0"/>
            <a:t>Opinionate on effectiveness of various prompting techniques.</a:t>
          </a:r>
        </a:p>
      </dgm:t>
    </dgm:pt>
    <dgm:pt modelId="{EC8331D4-F8B5-4616-B5EB-4509FC880BFA}" type="parTrans" cxnId="{DAAAEF0E-EA4F-4A41-98A2-D5628F450B32}">
      <dgm:prSet/>
      <dgm:spPr/>
      <dgm:t>
        <a:bodyPr/>
        <a:lstStyle/>
        <a:p>
          <a:endParaRPr lang="en-US"/>
        </a:p>
      </dgm:t>
    </dgm:pt>
    <dgm:pt modelId="{A0B8689A-51C1-4E81-B5A4-C5F3328B21FE}" type="sibTrans" cxnId="{DAAAEF0E-EA4F-4A41-98A2-D5628F450B32}">
      <dgm:prSet/>
      <dgm:spPr/>
      <dgm:t>
        <a:bodyPr/>
        <a:lstStyle/>
        <a:p>
          <a:endParaRPr lang="en-US"/>
        </a:p>
      </dgm:t>
    </dgm:pt>
    <dgm:pt modelId="{21C22EEA-A28A-48AC-8A32-B50C94CC075E}">
      <dgm:prSet/>
      <dgm:spPr/>
      <dgm:t>
        <a:bodyPr/>
        <a:lstStyle/>
        <a:p>
          <a:r>
            <a:rPr lang="en-US"/>
            <a:t>Gauge counterfactual adaptability of LLMs.</a:t>
          </a:r>
        </a:p>
      </dgm:t>
    </dgm:pt>
    <dgm:pt modelId="{8715B33E-27FF-4CA5-A2EE-627EB00D033F}" type="parTrans" cxnId="{8B84CA42-D062-4CCE-A5F4-648098F51267}">
      <dgm:prSet/>
      <dgm:spPr/>
      <dgm:t>
        <a:bodyPr/>
        <a:lstStyle/>
        <a:p>
          <a:endParaRPr lang="en-US"/>
        </a:p>
      </dgm:t>
    </dgm:pt>
    <dgm:pt modelId="{81591EFD-07EA-4071-9678-E1EE9DBE29F0}" type="sibTrans" cxnId="{8B84CA42-D062-4CCE-A5F4-648098F51267}">
      <dgm:prSet/>
      <dgm:spPr/>
      <dgm:t>
        <a:bodyPr/>
        <a:lstStyle/>
        <a:p>
          <a:endParaRPr lang="en-US"/>
        </a:p>
      </dgm:t>
    </dgm:pt>
    <dgm:pt modelId="{EC8712EA-B5A5-44CE-A58B-2230BA487CFD}">
      <dgm:prSet/>
      <dgm:spPr/>
      <dgm:t>
        <a:bodyPr/>
        <a:lstStyle/>
        <a:p>
          <a:r>
            <a:rPr lang="en-US"/>
            <a:t>Observe cooperation and animosity tendencies of LLM agents in games.</a:t>
          </a:r>
        </a:p>
      </dgm:t>
    </dgm:pt>
    <dgm:pt modelId="{2C122AB5-164D-4AF0-98F1-09F00C73B125}" type="parTrans" cxnId="{0A688078-B95B-4315-9ED9-2586555CA21F}">
      <dgm:prSet/>
      <dgm:spPr/>
      <dgm:t>
        <a:bodyPr/>
        <a:lstStyle/>
        <a:p>
          <a:endParaRPr lang="en-US"/>
        </a:p>
      </dgm:t>
    </dgm:pt>
    <dgm:pt modelId="{F1C37A12-9EA1-484B-8C75-C6C8BF4E0564}" type="sibTrans" cxnId="{0A688078-B95B-4315-9ED9-2586555CA21F}">
      <dgm:prSet/>
      <dgm:spPr/>
      <dgm:t>
        <a:bodyPr/>
        <a:lstStyle/>
        <a:p>
          <a:endParaRPr lang="en-US"/>
        </a:p>
      </dgm:t>
    </dgm:pt>
    <dgm:pt modelId="{4E06358E-A7A7-4CDD-8914-0B35E77A6B92}">
      <dgm:prSet/>
      <dgm:spPr/>
      <dgm:t>
        <a:bodyPr/>
        <a:lstStyle/>
        <a:p>
          <a:r>
            <a:rPr lang="en-US"/>
            <a:t>Explore the persistence, or lack thereof, of inherent biases of LLMs in strategy selection.</a:t>
          </a:r>
        </a:p>
      </dgm:t>
    </dgm:pt>
    <dgm:pt modelId="{BBDE91B1-28D9-4AA4-9088-05E93BED0E35}" type="parTrans" cxnId="{E1846F32-E237-4F74-B1C3-E7C3A927EBC4}">
      <dgm:prSet/>
      <dgm:spPr/>
      <dgm:t>
        <a:bodyPr/>
        <a:lstStyle/>
        <a:p>
          <a:endParaRPr lang="en-US"/>
        </a:p>
      </dgm:t>
    </dgm:pt>
    <dgm:pt modelId="{1756D36E-E78D-437E-A9A6-4D8B949D41DE}" type="sibTrans" cxnId="{E1846F32-E237-4F74-B1C3-E7C3A927EBC4}">
      <dgm:prSet/>
      <dgm:spPr/>
      <dgm:t>
        <a:bodyPr/>
        <a:lstStyle/>
        <a:p>
          <a:endParaRPr lang="en-US"/>
        </a:p>
      </dgm:t>
    </dgm:pt>
    <dgm:pt modelId="{AC0F0115-8010-4C1D-AF5B-48D0AB812707}">
      <dgm:prSet/>
      <dgm:spPr/>
      <dgm:t>
        <a:bodyPr/>
        <a:lstStyle/>
        <a:p>
          <a:r>
            <a:rPr lang="en-US"/>
            <a:t>Reinforce opinions correlating LLM size, prompting techniques, and reasoning variants with problem difficulty and complexity.</a:t>
          </a:r>
        </a:p>
      </dgm:t>
    </dgm:pt>
    <dgm:pt modelId="{F848FAA6-B01D-4A10-A9EC-BD4B8AD92F15}" type="parTrans" cxnId="{3F4AD848-5DE1-4C90-AE59-F6FE4319BE11}">
      <dgm:prSet/>
      <dgm:spPr/>
      <dgm:t>
        <a:bodyPr/>
        <a:lstStyle/>
        <a:p>
          <a:endParaRPr lang="en-US"/>
        </a:p>
      </dgm:t>
    </dgm:pt>
    <dgm:pt modelId="{28F30690-ADA6-4CAF-8132-39ADA72D40DF}" type="sibTrans" cxnId="{3F4AD848-5DE1-4C90-AE59-F6FE4319BE11}">
      <dgm:prSet/>
      <dgm:spPr/>
      <dgm:t>
        <a:bodyPr/>
        <a:lstStyle/>
        <a:p>
          <a:endParaRPr lang="en-US"/>
        </a:p>
      </dgm:t>
    </dgm:pt>
    <dgm:pt modelId="{49E1EB27-4A84-40FF-A6D6-9AFD504FF948}">
      <dgm:prSet/>
      <dgm:spPr/>
      <dgm:t>
        <a:bodyPr/>
        <a:lstStyle/>
        <a:p>
          <a:r>
            <a:rPr lang="en-US"/>
            <a:t>Framework for testing LLMs in repeated games; introduction of appropriate metrics.</a:t>
          </a:r>
        </a:p>
      </dgm:t>
    </dgm:pt>
    <dgm:pt modelId="{4682D6AE-3DF3-4921-AF05-8FB7B941F46F}" type="parTrans" cxnId="{7E33B6A1-4EE6-462B-BBF7-FA485B750CDA}">
      <dgm:prSet/>
      <dgm:spPr/>
      <dgm:t>
        <a:bodyPr/>
        <a:lstStyle/>
        <a:p>
          <a:endParaRPr lang="en-US"/>
        </a:p>
      </dgm:t>
    </dgm:pt>
    <dgm:pt modelId="{F60597E7-944B-439E-895A-7260B3F56E3C}" type="sibTrans" cxnId="{7E33B6A1-4EE6-462B-BBF7-FA485B750CDA}">
      <dgm:prSet/>
      <dgm:spPr/>
      <dgm:t>
        <a:bodyPr/>
        <a:lstStyle/>
        <a:p>
          <a:endParaRPr lang="en-US"/>
        </a:p>
      </dgm:t>
    </dgm:pt>
    <dgm:pt modelId="{6CC2D8EA-752A-4081-A23E-268F20ACEC1B}" type="pres">
      <dgm:prSet presAssocID="{555893BB-3787-430B-843B-11B9CD2C9858}" presName="vert0" presStyleCnt="0">
        <dgm:presLayoutVars>
          <dgm:dir/>
          <dgm:animOne val="branch"/>
          <dgm:animLvl val="lvl"/>
        </dgm:presLayoutVars>
      </dgm:prSet>
      <dgm:spPr/>
    </dgm:pt>
    <dgm:pt modelId="{8D449337-01B2-4A3B-8709-53B18CB6A304}" type="pres">
      <dgm:prSet presAssocID="{1F152EF0-560A-4A41-A29E-12F3F0C1009E}" presName="thickLine" presStyleLbl="alignNode1" presStyleIdx="0" presStyleCnt="7"/>
      <dgm:spPr/>
    </dgm:pt>
    <dgm:pt modelId="{892BE8D6-B34C-435D-9E11-A3E1E4E04908}" type="pres">
      <dgm:prSet presAssocID="{1F152EF0-560A-4A41-A29E-12F3F0C1009E}" presName="horz1" presStyleCnt="0"/>
      <dgm:spPr/>
    </dgm:pt>
    <dgm:pt modelId="{014B6A73-2CD4-4985-9C3C-E89A4605EC9B}" type="pres">
      <dgm:prSet presAssocID="{1F152EF0-560A-4A41-A29E-12F3F0C1009E}" presName="tx1" presStyleLbl="revTx" presStyleIdx="0" presStyleCnt="7"/>
      <dgm:spPr/>
    </dgm:pt>
    <dgm:pt modelId="{D1CED2A6-12C3-45D6-BD1B-A9E867BE3079}" type="pres">
      <dgm:prSet presAssocID="{1F152EF0-560A-4A41-A29E-12F3F0C1009E}" presName="vert1" presStyleCnt="0"/>
      <dgm:spPr/>
    </dgm:pt>
    <dgm:pt modelId="{E61E817E-AEBF-4F7D-A224-4C081D34B999}" type="pres">
      <dgm:prSet presAssocID="{37CC56BF-4AF8-4084-A1EA-B7B282B7674C}" presName="thickLine" presStyleLbl="alignNode1" presStyleIdx="1" presStyleCnt="7"/>
      <dgm:spPr/>
    </dgm:pt>
    <dgm:pt modelId="{1400A997-62D1-4597-8EA7-296A5AE83C92}" type="pres">
      <dgm:prSet presAssocID="{37CC56BF-4AF8-4084-A1EA-B7B282B7674C}" presName="horz1" presStyleCnt="0"/>
      <dgm:spPr/>
    </dgm:pt>
    <dgm:pt modelId="{DA4E8045-1247-4A05-B859-549CC92BB2C0}" type="pres">
      <dgm:prSet presAssocID="{37CC56BF-4AF8-4084-A1EA-B7B282B7674C}" presName="tx1" presStyleLbl="revTx" presStyleIdx="1" presStyleCnt="7"/>
      <dgm:spPr/>
    </dgm:pt>
    <dgm:pt modelId="{0DB758CE-2A36-4E8C-B3E1-8496F30E87C5}" type="pres">
      <dgm:prSet presAssocID="{37CC56BF-4AF8-4084-A1EA-B7B282B7674C}" presName="vert1" presStyleCnt="0"/>
      <dgm:spPr/>
    </dgm:pt>
    <dgm:pt modelId="{3788F332-2485-45E6-9CAD-584F22B64BE0}" type="pres">
      <dgm:prSet presAssocID="{21C22EEA-A28A-48AC-8A32-B50C94CC075E}" presName="thickLine" presStyleLbl="alignNode1" presStyleIdx="2" presStyleCnt="7"/>
      <dgm:spPr/>
    </dgm:pt>
    <dgm:pt modelId="{9822B72D-86C3-4EA9-993D-77D1DC450E90}" type="pres">
      <dgm:prSet presAssocID="{21C22EEA-A28A-48AC-8A32-B50C94CC075E}" presName="horz1" presStyleCnt="0"/>
      <dgm:spPr/>
    </dgm:pt>
    <dgm:pt modelId="{EDE84A78-EDAF-4855-8717-4411C8955931}" type="pres">
      <dgm:prSet presAssocID="{21C22EEA-A28A-48AC-8A32-B50C94CC075E}" presName="tx1" presStyleLbl="revTx" presStyleIdx="2" presStyleCnt="7"/>
      <dgm:spPr/>
    </dgm:pt>
    <dgm:pt modelId="{43BDA14A-34BA-416A-8503-0AF7F14603BC}" type="pres">
      <dgm:prSet presAssocID="{21C22EEA-A28A-48AC-8A32-B50C94CC075E}" presName="vert1" presStyleCnt="0"/>
      <dgm:spPr/>
    </dgm:pt>
    <dgm:pt modelId="{03595073-309A-464B-9C44-6B46D29227D2}" type="pres">
      <dgm:prSet presAssocID="{EC8712EA-B5A5-44CE-A58B-2230BA487CFD}" presName="thickLine" presStyleLbl="alignNode1" presStyleIdx="3" presStyleCnt="7"/>
      <dgm:spPr/>
    </dgm:pt>
    <dgm:pt modelId="{1DE65272-B875-497B-A934-53FA1353FC6E}" type="pres">
      <dgm:prSet presAssocID="{EC8712EA-B5A5-44CE-A58B-2230BA487CFD}" presName="horz1" presStyleCnt="0"/>
      <dgm:spPr/>
    </dgm:pt>
    <dgm:pt modelId="{824064E8-79E5-4AC5-A399-D87F07BCB724}" type="pres">
      <dgm:prSet presAssocID="{EC8712EA-B5A5-44CE-A58B-2230BA487CFD}" presName="tx1" presStyleLbl="revTx" presStyleIdx="3" presStyleCnt="7"/>
      <dgm:spPr/>
    </dgm:pt>
    <dgm:pt modelId="{E831D10B-BA40-4599-9953-84DD3EB130EB}" type="pres">
      <dgm:prSet presAssocID="{EC8712EA-B5A5-44CE-A58B-2230BA487CFD}" presName="vert1" presStyleCnt="0"/>
      <dgm:spPr/>
    </dgm:pt>
    <dgm:pt modelId="{908AF4ED-DD79-4F5F-8F8A-1EADBE1217A4}" type="pres">
      <dgm:prSet presAssocID="{4E06358E-A7A7-4CDD-8914-0B35E77A6B92}" presName="thickLine" presStyleLbl="alignNode1" presStyleIdx="4" presStyleCnt="7"/>
      <dgm:spPr/>
    </dgm:pt>
    <dgm:pt modelId="{C71C2A9A-67DC-4AAA-A651-160AC307437D}" type="pres">
      <dgm:prSet presAssocID="{4E06358E-A7A7-4CDD-8914-0B35E77A6B92}" presName="horz1" presStyleCnt="0"/>
      <dgm:spPr/>
    </dgm:pt>
    <dgm:pt modelId="{B7932020-5DAC-4517-981D-FB9C132B6583}" type="pres">
      <dgm:prSet presAssocID="{4E06358E-A7A7-4CDD-8914-0B35E77A6B92}" presName="tx1" presStyleLbl="revTx" presStyleIdx="4" presStyleCnt="7"/>
      <dgm:spPr/>
    </dgm:pt>
    <dgm:pt modelId="{EB67AAB6-5FA4-4AA6-8DAB-1F2813452C17}" type="pres">
      <dgm:prSet presAssocID="{4E06358E-A7A7-4CDD-8914-0B35E77A6B92}" presName="vert1" presStyleCnt="0"/>
      <dgm:spPr/>
    </dgm:pt>
    <dgm:pt modelId="{D04BC79D-FDED-4241-AB99-133915CF86FB}" type="pres">
      <dgm:prSet presAssocID="{AC0F0115-8010-4C1D-AF5B-48D0AB812707}" presName="thickLine" presStyleLbl="alignNode1" presStyleIdx="5" presStyleCnt="7"/>
      <dgm:spPr/>
    </dgm:pt>
    <dgm:pt modelId="{D09D347D-6CAC-4BE5-A602-750126B7E072}" type="pres">
      <dgm:prSet presAssocID="{AC0F0115-8010-4C1D-AF5B-48D0AB812707}" presName="horz1" presStyleCnt="0"/>
      <dgm:spPr/>
    </dgm:pt>
    <dgm:pt modelId="{06E9804C-3673-4E60-ABC5-791483592143}" type="pres">
      <dgm:prSet presAssocID="{AC0F0115-8010-4C1D-AF5B-48D0AB812707}" presName="tx1" presStyleLbl="revTx" presStyleIdx="5" presStyleCnt="7"/>
      <dgm:spPr/>
    </dgm:pt>
    <dgm:pt modelId="{E2E6B512-1D42-40D8-9286-1BD995E8080D}" type="pres">
      <dgm:prSet presAssocID="{AC0F0115-8010-4C1D-AF5B-48D0AB812707}" presName="vert1" presStyleCnt="0"/>
      <dgm:spPr/>
    </dgm:pt>
    <dgm:pt modelId="{DF19D84D-DD52-4836-8C45-673FAC3FE392}" type="pres">
      <dgm:prSet presAssocID="{49E1EB27-4A84-40FF-A6D6-9AFD504FF948}" presName="thickLine" presStyleLbl="alignNode1" presStyleIdx="6" presStyleCnt="7"/>
      <dgm:spPr/>
    </dgm:pt>
    <dgm:pt modelId="{95B62C51-A3D2-4BAB-AF88-DD1F1BEBF528}" type="pres">
      <dgm:prSet presAssocID="{49E1EB27-4A84-40FF-A6D6-9AFD504FF948}" presName="horz1" presStyleCnt="0"/>
      <dgm:spPr/>
    </dgm:pt>
    <dgm:pt modelId="{2E3BB540-F194-4F27-90D6-B4D1DEEF128C}" type="pres">
      <dgm:prSet presAssocID="{49E1EB27-4A84-40FF-A6D6-9AFD504FF948}" presName="tx1" presStyleLbl="revTx" presStyleIdx="6" presStyleCnt="7"/>
      <dgm:spPr/>
    </dgm:pt>
    <dgm:pt modelId="{4DD55015-D9C1-4B44-A0B2-25AF1424AC43}" type="pres">
      <dgm:prSet presAssocID="{49E1EB27-4A84-40FF-A6D6-9AFD504FF948}" presName="vert1" presStyleCnt="0"/>
      <dgm:spPr/>
    </dgm:pt>
  </dgm:ptLst>
  <dgm:cxnLst>
    <dgm:cxn modelId="{DAAAEF0E-EA4F-4A41-98A2-D5628F450B32}" srcId="{555893BB-3787-430B-843B-11B9CD2C9858}" destId="{37CC56BF-4AF8-4084-A1EA-B7B282B7674C}" srcOrd="1" destOrd="0" parTransId="{EC8331D4-F8B5-4616-B5EB-4509FC880BFA}" sibTransId="{A0B8689A-51C1-4E81-B5A4-C5F3328B21FE}"/>
    <dgm:cxn modelId="{37EF5E16-1BA7-492D-AE35-5FD0EBB35D77}" type="presOf" srcId="{4E06358E-A7A7-4CDD-8914-0B35E77A6B92}" destId="{B7932020-5DAC-4517-981D-FB9C132B6583}" srcOrd="0" destOrd="0" presId="urn:microsoft.com/office/officeart/2008/layout/LinedList"/>
    <dgm:cxn modelId="{E9931B2D-5613-4F57-ACD6-F4493DA1CD5A}" type="presOf" srcId="{555893BB-3787-430B-843B-11B9CD2C9858}" destId="{6CC2D8EA-752A-4081-A23E-268F20ACEC1B}" srcOrd="0" destOrd="0" presId="urn:microsoft.com/office/officeart/2008/layout/LinedList"/>
    <dgm:cxn modelId="{E1846F32-E237-4F74-B1C3-E7C3A927EBC4}" srcId="{555893BB-3787-430B-843B-11B9CD2C9858}" destId="{4E06358E-A7A7-4CDD-8914-0B35E77A6B92}" srcOrd="4" destOrd="0" parTransId="{BBDE91B1-28D9-4AA4-9088-05E93BED0E35}" sibTransId="{1756D36E-E78D-437E-A9A6-4D8B949D41DE}"/>
    <dgm:cxn modelId="{8B84CA42-D062-4CCE-A5F4-648098F51267}" srcId="{555893BB-3787-430B-843B-11B9CD2C9858}" destId="{21C22EEA-A28A-48AC-8A32-B50C94CC075E}" srcOrd="2" destOrd="0" parTransId="{8715B33E-27FF-4CA5-A2EE-627EB00D033F}" sibTransId="{81591EFD-07EA-4071-9678-E1EE9DBE29F0}"/>
    <dgm:cxn modelId="{3F4AD848-5DE1-4C90-AE59-F6FE4319BE11}" srcId="{555893BB-3787-430B-843B-11B9CD2C9858}" destId="{AC0F0115-8010-4C1D-AF5B-48D0AB812707}" srcOrd="5" destOrd="0" parTransId="{F848FAA6-B01D-4A10-A9EC-BD4B8AD92F15}" sibTransId="{28F30690-ADA6-4CAF-8132-39ADA72D40DF}"/>
    <dgm:cxn modelId="{0A688078-B95B-4315-9ED9-2586555CA21F}" srcId="{555893BB-3787-430B-843B-11B9CD2C9858}" destId="{EC8712EA-B5A5-44CE-A58B-2230BA487CFD}" srcOrd="3" destOrd="0" parTransId="{2C122AB5-164D-4AF0-98F1-09F00C73B125}" sibTransId="{F1C37A12-9EA1-484B-8C75-C6C8BF4E0564}"/>
    <dgm:cxn modelId="{7E33B6A1-4EE6-462B-BBF7-FA485B750CDA}" srcId="{555893BB-3787-430B-843B-11B9CD2C9858}" destId="{49E1EB27-4A84-40FF-A6D6-9AFD504FF948}" srcOrd="6" destOrd="0" parTransId="{4682D6AE-3DF3-4921-AF05-8FB7B941F46F}" sibTransId="{F60597E7-944B-439E-895A-7260B3F56E3C}"/>
    <dgm:cxn modelId="{29D436B1-ED3E-4C04-9C00-1B648324C545}" type="presOf" srcId="{49E1EB27-4A84-40FF-A6D6-9AFD504FF948}" destId="{2E3BB540-F194-4F27-90D6-B4D1DEEF128C}" srcOrd="0" destOrd="0" presId="urn:microsoft.com/office/officeart/2008/layout/LinedList"/>
    <dgm:cxn modelId="{12CBCCB6-7FE9-47F1-A9C5-A73D7A17C39D}" type="presOf" srcId="{37CC56BF-4AF8-4084-A1EA-B7B282B7674C}" destId="{DA4E8045-1247-4A05-B859-549CC92BB2C0}" srcOrd="0" destOrd="0" presId="urn:microsoft.com/office/officeart/2008/layout/LinedList"/>
    <dgm:cxn modelId="{C656DFBD-74BD-477F-8A8C-4CB789BF0CBE}" type="presOf" srcId="{EC8712EA-B5A5-44CE-A58B-2230BA487CFD}" destId="{824064E8-79E5-4AC5-A399-D87F07BCB724}" srcOrd="0" destOrd="0" presId="urn:microsoft.com/office/officeart/2008/layout/LinedList"/>
    <dgm:cxn modelId="{ABDE6EC7-6187-46E9-968A-FC3A22A7DC7C}" type="presOf" srcId="{AC0F0115-8010-4C1D-AF5B-48D0AB812707}" destId="{06E9804C-3673-4E60-ABC5-791483592143}" srcOrd="0" destOrd="0" presId="urn:microsoft.com/office/officeart/2008/layout/LinedList"/>
    <dgm:cxn modelId="{42335EDB-068F-45AB-A33F-0DE8A7A96C4F}" type="presOf" srcId="{21C22EEA-A28A-48AC-8A32-B50C94CC075E}" destId="{EDE84A78-EDAF-4855-8717-4411C8955931}" srcOrd="0" destOrd="0" presId="urn:microsoft.com/office/officeart/2008/layout/LinedList"/>
    <dgm:cxn modelId="{47A1A8E5-4F30-45FE-8F30-A81E9AD3F566}" srcId="{555893BB-3787-430B-843B-11B9CD2C9858}" destId="{1F152EF0-560A-4A41-A29E-12F3F0C1009E}" srcOrd="0" destOrd="0" parTransId="{9234AC3A-C103-4B64-A818-4918C0AECF32}" sibTransId="{A99EEFD8-1A00-4A98-BF0A-6AB29989E67D}"/>
    <dgm:cxn modelId="{960B9EF8-3ECF-4A04-9D3F-1AD8F44EE4E4}" type="presOf" srcId="{1F152EF0-560A-4A41-A29E-12F3F0C1009E}" destId="{014B6A73-2CD4-4985-9C3C-E89A4605EC9B}" srcOrd="0" destOrd="0" presId="urn:microsoft.com/office/officeart/2008/layout/LinedList"/>
    <dgm:cxn modelId="{5ABC3133-5D7D-476A-BFDE-445A8D53C828}" type="presParOf" srcId="{6CC2D8EA-752A-4081-A23E-268F20ACEC1B}" destId="{8D449337-01B2-4A3B-8709-53B18CB6A304}" srcOrd="0" destOrd="0" presId="urn:microsoft.com/office/officeart/2008/layout/LinedList"/>
    <dgm:cxn modelId="{2B15D7C5-72BC-48C3-A9D3-E76558C281E8}" type="presParOf" srcId="{6CC2D8EA-752A-4081-A23E-268F20ACEC1B}" destId="{892BE8D6-B34C-435D-9E11-A3E1E4E04908}" srcOrd="1" destOrd="0" presId="urn:microsoft.com/office/officeart/2008/layout/LinedList"/>
    <dgm:cxn modelId="{9E9F867D-3717-417D-ABB5-54AC749BB6E4}" type="presParOf" srcId="{892BE8D6-B34C-435D-9E11-A3E1E4E04908}" destId="{014B6A73-2CD4-4985-9C3C-E89A4605EC9B}" srcOrd="0" destOrd="0" presId="urn:microsoft.com/office/officeart/2008/layout/LinedList"/>
    <dgm:cxn modelId="{CCA35761-EB51-4C94-AD54-5A97DB9F1EBC}" type="presParOf" srcId="{892BE8D6-B34C-435D-9E11-A3E1E4E04908}" destId="{D1CED2A6-12C3-45D6-BD1B-A9E867BE3079}" srcOrd="1" destOrd="0" presId="urn:microsoft.com/office/officeart/2008/layout/LinedList"/>
    <dgm:cxn modelId="{3EEFE485-CAD5-43CC-8AA9-35A11D55F891}" type="presParOf" srcId="{6CC2D8EA-752A-4081-A23E-268F20ACEC1B}" destId="{E61E817E-AEBF-4F7D-A224-4C081D34B999}" srcOrd="2" destOrd="0" presId="urn:microsoft.com/office/officeart/2008/layout/LinedList"/>
    <dgm:cxn modelId="{CB2C786F-4C31-49CC-B13D-C6C8E11D1D15}" type="presParOf" srcId="{6CC2D8EA-752A-4081-A23E-268F20ACEC1B}" destId="{1400A997-62D1-4597-8EA7-296A5AE83C92}" srcOrd="3" destOrd="0" presId="urn:microsoft.com/office/officeart/2008/layout/LinedList"/>
    <dgm:cxn modelId="{63D206C5-6149-429A-969A-D86AF1F2DA7F}" type="presParOf" srcId="{1400A997-62D1-4597-8EA7-296A5AE83C92}" destId="{DA4E8045-1247-4A05-B859-549CC92BB2C0}" srcOrd="0" destOrd="0" presId="urn:microsoft.com/office/officeart/2008/layout/LinedList"/>
    <dgm:cxn modelId="{4E2C5A53-2BDE-46B0-8946-D78C66202789}" type="presParOf" srcId="{1400A997-62D1-4597-8EA7-296A5AE83C92}" destId="{0DB758CE-2A36-4E8C-B3E1-8496F30E87C5}" srcOrd="1" destOrd="0" presId="urn:microsoft.com/office/officeart/2008/layout/LinedList"/>
    <dgm:cxn modelId="{E8AF2A58-D5E1-419B-A3E8-C9345B29394B}" type="presParOf" srcId="{6CC2D8EA-752A-4081-A23E-268F20ACEC1B}" destId="{3788F332-2485-45E6-9CAD-584F22B64BE0}" srcOrd="4" destOrd="0" presId="urn:microsoft.com/office/officeart/2008/layout/LinedList"/>
    <dgm:cxn modelId="{FEBC8234-E21E-4EA8-8D12-9DE9AD2BECF1}" type="presParOf" srcId="{6CC2D8EA-752A-4081-A23E-268F20ACEC1B}" destId="{9822B72D-86C3-4EA9-993D-77D1DC450E90}" srcOrd="5" destOrd="0" presId="urn:microsoft.com/office/officeart/2008/layout/LinedList"/>
    <dgm:cxn modelId="{7A5FEFCC-DE3D-4433-8F27-8D09DDB607BB}" type="presParOf" srcId="{9822B72D-86C3-4EA9-993D-77D1DC450E90}" destId="{EDE84A78-EDAF-4855-8717-4411C8955931}" srcOrd="0" destOrd="0" presId="urn:microsoft.com/office/officeart/2008/layout/LinedList"/>
    <dgm:cxn modelId="{A5D7CB1F-AE5B-4659-B6A4-B9E9D9F207FB}" type="presParOf" srcId="{9822B72D-86C3-4EA9-993D-77D1DC450E90}" destId="{43BDA14A-34BA-416A-8503-0AF7F14603BC}" srcOrd="1" destOrd="0" presId="urn:microsoft.com/office/officeart/2008/layout/LinedList"/>
    <dgm:cxn modelId="{998F98E3-C63B-496D-8E20-78392EF0AC7E}" type="presParOf" srcId="{6CC2D8EA-752A-4081-A23E-268F20ACEC1B}" destId="{03595073-309A-464B-9C44-6B46D29227D2}" srcOrd="6" destOrd="0" presId="urn:microsoft.com/office/officeart/2008/layout/LinedList"/>
    <dgm:cxn modelId="{632C6FB0-0C6F-4B58-BC3D-FEDD2B1EB04B}" type="presParOf" srcId="{6CC2D8EA-752A-4081-A23E-268F20ACEC1B}" destId="{1DE65272-B875-497B-A934-53FA1353FC6E}" srcOrd="7" destOrd="0" presId="urn:microsoft.com/office/officeart/2008/layout/LinedList"/>
    <dgm:cxn modelId="{2D14A9BD-A2B9-42FA-B8DD-AFF1F8586D92}" type="presParOf" srcId="{1DE65272-B875-497B-A934-53FA1353FC6E}" destId="{824064E8-79E5-4AC5-A399-D87F07BCB724}" srcOrd="0" destOrd="0" presId="urn:microsoft.com/office/officeart/2008/layout/LinedList"/>
    <dgm:cxn modelId="{753CAD6E-4998-4328-8288-1EBA13C820F0}" type="presParOf" srcId="{1DE65272-B875-497B-A934-53FA1353FC6E}" destId="{E831D10B-BA40-4599-9953-84DD3EB130EB}" srcOrd="1" destOrd="0" presId="urn:microsoft.com/office/officeart/2008/layout/LinedList"/>
    <dgm:cxn modelId="{CDADF5F0-8F85-426D-B4C7-5D10B55540BF}" type="presParOf" srcId="{6CC2D8EA-752A-4081-A23E-268F20ACEC1B}" destId="{908AF4ED-DD79-4F5F-8F8A-1EADBE1217A4}" srcOrd="8" destOrd="0" presId="urn:microsoft.com/office/officeart/2008/layout/LinedList"/>
    <dgm:cxn modelId="{C7B0193E-2430-4639-B137-B9EFD00B3016}" type="presParOf" srcId="{6CC2D8EA-752A-4081-A23E-268F20ACEC1B}" destId="{C71C2A9A-67DC-4AAA-A651-160AC307437D}" srcOrd="9" destOrd="0" presId="urn:microsoft.com/office/officeart/2008/layout/LinedList"/>
    <dgm:cxn modelId="{2B346EA3-8E91-46C2-8AE7-67CAED2177DF}" type="presParOf" srcId="{C71C2A9A-67DC-4AAA-A651-160AC307437D}" destId="{B7932020-5DAC-4517-981D-FB9C132B6583}" srcOrd="0" destOrd="0" presId="urn:microsoft.com/office/officeart/2008/layout/LinedList"/>
    <dgm:cxn modelId="{E14FB5ED-CDE9-4AAA-BF38-A0F3B3CD9FF5}" type="presParOf" srcId="{C71C2A9A-67DC-4AAA-A651-160AC307437D}" destId="{EB67AAB6-5FA4-4AA6-8DAB-1F2813452C17}" srcOrd="1" destOrd="0" presId="urn:microsoft.com/office/officeart/2008/layout/LinedList"/>
    <dgm:cxn modelId="{2350B149-033E-494D-BC83-179E73F82B9D}" type="presParOf" srcId="{6CC2D8EA-752A-4081-A23E-268F20ACEC1B}" destId="{D04BC79D-FDED-4241-AB99-133915CF86FB}" srcOrd="10" destOrd="0" presId="urn:microsoft.com/office/officeart/2008/layout/LinedList"/>
    <dgm:cxn modelId="{2DBE7C60-C100-43F3-99AE-679CC6B112A6}" type="presParOf" srcId="{6CC2D8EA-752A-4081-A23E-268F20ACEC1B}" destId="{D09D347D-6CAC-4BE5-A602-750126B7E072}" srcOrd="11" destOrd="0" presId="urn:microsoft.com/office/officeart/2008/layout/LinedList"/>
    <dgm:cxn modelId="{CFB6AB9E-29AD-4C06-A139-732BB68A8398}" type="presParOf" srcId="{D09D347D-6CAC-4BE5-A602-750126B7E072}" destId="{06E9804C-3673-4E60-ABC5-791483592143}" srcOrd="0" destOrd="0" presId="urn:microsoft.com/office/officeart/2008/layout/LinedList"/>
    <dgm:cxn modelId="{FBAB3FDA-82FA-4202-B89B-22875C1A9C39}" type="presParOf" srcId="{D09D347D-6CAC-4BE5-A602-750126B7E072}" destId="{E2E6B512-1D42-40D8-9286-1BD995E8080D}" srcOrd="1" destOrd="0" presId="urn:microsoft.com/office/officeart/2008/layout/LinedList"/>
    <dgm:cxn modelId="{6206B163-B9CA-47F3-B35A-BAB12AF17439}" type="presParOf" srcId="{6CC2D8EA-752A-4081-A23E-268F20ACEC1B}" destId="{DF19D84D-DD52-4836-8C45-673FAC3FE392}" srcOrd="12" destOrd="0" presId="urn:microsoft.com/office/officeart/2008/layout/LinedList"/>
    <dgm:cxn modelId="{2A95EC66-DD77-4DFE-BA33-456B3423A192}" type="presParOf" srcId="{6CC2D8EA-752A-4081-A23E-268F20ACEC1B}" destId="{95B62C51-A3D2-4BAB-AF88-DD1F1BEBF528}" srcOrd="13" destOrd="0" presId="urn:microsoft.com/office/officeart/2008/layout/LinedList"/>
    <dgm:cxn modelId="{A80374FF-65EE-4552-96FE-234A51B5BBC9}" type="presParOf" srcId="{95B62C51-A3D2-4BAB-AF88-DD1F1BEBF528}" destId="{2E3BB540-F194-4F27-90D6-B4D1DEEF128C}" srcOrd="0" destOrd="0" presId="urn:microsoft.com/office/officeart/2008/layout/LinedList"/>
    <dgm:cxn modelId="{71698193-B70B-45C1-9B86-AD460711925F}" type="presParOf" srcId="{95B62C51-A3D2-4BAB-AF88-DD1F1BEBF528}" destId="{4DD55015-D9C1-4B44-A0B2-25AF1424AC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E787C7-FF65-48FA-A0E3-069DDD001D6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3E5FE3-0383-4DAD-8559-975F6E17C38F}">
      <dgm:prSet/>
      <dgm:spPr/>
      <dgm:t>
        <a:bodyPr/>
        <a:lstStyle/>
        <a:p>
          <a:r>
            <a:rPr lang="en-US" b="1" dirty="0"/>
            <a:t>Zero-Shot</a:t>
          </a:r>
          <a:r>
            <a:rPr lang="en-US" dirty="0"/>
            <a:t>: Prompt initialized with just the game description.</a:t>
          </a:r>
        </a:p>
      </dgm:t>
    </dgm:pt>
    <dgm:pt modelId="{4C0672FB-D30B-4F0C-8D2F-52DDD3AF9802}" type="parTrans" cxnId="{10073B95-F118-47D1-8BFC-D8E6E70C7D6E}">
      <dgm:prSet/>
      <dgm:spPr/>
      <dgm:t>
        <a:bodyPr/>
        <a:lstStyle/>
        <a:p>
          <a:endParaRPr lang="en-US"/>
        </a:p>
      </dgm:t>
    </dgm:pt>
    <dgm:pt modelId="{5336308A-E643-47C1-95B4-BCEE87FA1468}" type="sibTrans" cxnId="{10073B95-F118-47D1-8BFC-D8E6E70C7D6E}">
      <dgm:prSet/>
      <dgm:spPr/>
      <dgm:t>
        <a:bodyPr/>
        <a:lstStyle/>
        <a:p>
          <a:endParaRPr lang="en-US"/>
        </a:p>
      </dgm:t>
    </dgm:pt>
    <dgm:pt modelId="{A0DC1952-72DE-405E-B31A-B3A56CDB8E61}">
      <dgm:prSet/>
      <dgm:spPr/>
      <dgm:t>
        <a:bodyPr/>
        <a:lstStyle/>
        <a:p>
          <a:r>
            <a:rPr lang="en-US" b="1" dirty="0"/>
            <a:t>Chain-of-Thought</a:t>
          </a:r>
          <a:r>
            <a:rPr lang="en-US" dirty="0"/>
            <a:t>: Prompt encourages player to think step-by-step. </a:t>
          </a:r>
        </a:p>
      </dgm:t>
    </dgm:pt>
    <dgm:pt modelId="{D2D50E28-27D5-48A2-9567-FB00D6FAEDAA}" type="parTrans" cxnId="{121D8B86-4683-420D-89A4-FAFA4A2FF214}">
      <dgm:prSet/>
      <dgm:spPr/>
      <dgm:t>
        <a:bodyPr/>
        <a:lstStyle/>
        <a:p>
          <a:endParaRPr lang="en-US"/>
        </a:p>
      </dgm:t>
    </dgm:pt>
    <dgm:pt modelId="{7D80A1B6-B3CB-4DA0-A5B7-F7D2FCB200ED}" type="sibTrans" cxnId="{121D8B86-4683-420D-89A4-FAFA4A2FF214}">
      <dgm:prSet/>
      <dgm:spPr/>
      <dgm:t>
        <a:bodyPr/>
        <a:lstStyle/>
        <a:p>
          <a:endParaRPr lang="en-US"/>
        </a:p>
      </dgm:t>
    </dgm:pt>
    <dgm:pt modelId="{85BBFBE1-364F-4004-A2A4-B55F25C32FFB}">
      <dgm:prSet/>
      <dgm:spPr/>
      <dgm:t>
        <a:bodyPr/>
        <a:lstStyle/>
        <a:p>
          <a:r>
            <a:rPr lang="en-US" b="1" dirty="0"/>
            <a:t>Solo-Performance</a:t>
          </a:r>
          <a:r>
            <a:rPr lang="en-US" dirty="0"/>
            <a:t>: Prompt encourages player to self-collaborate with multiple personas.</a:t>
          </a:r>
        </a:p>
      </dgm:t>
    </dgm:pt>
    <dgm:pt modelId="{9C37136A-7A96-4FF8-B30A-0B8A4A8AFC67}" type="parTrans" cxnId="{436BAA3B-ABDA-4F7B-840A-FB90FFDDC469}">
      <dgm:prSet/>
      <dgm:spPr/>
      <dgm:t>
        <a:bodyPr/>
        <a:lstStyle/>
        <a:p>
          <a:endParaRPr lang="en-US"/>
        </a:p>
      </dgm:t>
    </dgm:pt>
    <dgm:pt modelId="{D203727A-AD1F-4E65-BF8E-84E8D8B5E56F}" type="sibTrans" cxnId="{436BAA3B-ABDA-4F7B-840A-FB90FFDDC469}">
      <dgm:prSet/>
      <dgm:spPr/>
      <dgm:t>
        <a:bodyPr/>
        <a:lstStyle/>
        <a:p>
          <a:endParaRPr lang="en-US"/>
        </a:p>
      </dgm:t>
    </dgm:pt>
    <dgm:pt modelId="{3D22FCA0-26F3-434E-9A2E-CD1AD46E57D9}">
      <dgm:prSet/>
      <dgm:spPr/>
      <dgm:t>
        <a:bodyPr/>
        <a:lstStyle/>
        <a:p>
          <a:r>
            <a:rPr lang="en-US" b="1" dirty="0"/>
            <a:t>Self-Consistency</a:t>
          </a:r>
        </a:p>
      </dgm:t>
    </dgm:pt>
    <dgm:pt modelId="{6A67C6CE-E941-4086-A908-4A4EA5AD239D}" type="parTrans" cxnId="{759323C3-4027-40F7-B82F-BFFA7AAE5515}">
      <dgm:prSet/>
      <dgm:spPr/>
      <dgm:t>
        <a:bodyPr/>
        <a:lstStyle/>
        <a:p>
          <a:endParaRPr lang="LID4096"/>
        </a:p>
      </dgm:t>
    </dgm:pt>
    <dgm:pt modelId="{7DF9A008-ACB7-4889-B985-77769E837E2D}" type="sibTrans" cxnId="{759323C3-4027-40F7-B82F-BFFA7AAE5515}">
      <dgm:prSet/>
      <dgm:spPr/>
      <dgm:t>
        <a:bodyPr/>
        <a:lstStyle/>
        <a:p>
          <a:endParaRPr lang="LID4096"/>
        </a:p>
      </dgm:t>
    </dgm:pt>
    <dgm:pt modelId="{389F5700-1821-4690-9FB3-F91B93C6B936}" type="pres">
      <dgm:prSet presAssocID="{65E787C7-FF65-48FA-A0E3-069DDD001D60}" presName="vert0" presStyleCnt="0">
        <dgm:presLayoutVars>
          <dgm:dir/>
          <dgm:animOne val="branch"/>
          <dgm:animLvl val="lvl"/>
        </dgm:presLayoutVars>
      </dgm:prSet>
      <dgm:spPr/>
    </dgm:pt>
    <dgm:pt modelId="{31C8B2EC-BCDA-4BB7-B95A-CB5F570D2589}" type="pres">
      <dgm:prSet presAssocID="{CB3E5FE3-0383-4DAD-8559-975F6E17C38F}" presName="thickLine" presStyleLbl="alignNode1" presStyleIdx="0" presStyleCnt="4"/>
      <dgm:spPr/>
    </dgm:pt>
    <dgm:pt modelId="{F858DC53-255C-4DA2-ACD6-63747ADA4D9A}" type="pres">
      <dgm:prSet presAssocID="{CB3E5FE3-0383-4DAD-8559-975F6E17C38F}" presName="horz1" presStyleCnt="0"/>
      <dgm:spPr/>
    </dgm:pt>
    <dgm:pt modelId="{B8D48CCD-DDD7-4A63-ADB6-E6E39E5E88DC}" type="pres">
      <dgm:prSet presAssocID="{CB3E5FE3-0383-4DAD-8559-975F6E17C38F}" presName="tx1" presStyleLbl="revTx" presStyleIdx="0" presStyleCnt="4"/>
      <dgm:spPr/>
    </dgm:pt>
    <dgm:pt modelId="{CAEC28B2-753C-4A3F-84BE-A2D4340D637E}" type="pres">
      <dgm:prSet presAssocID="{CB3E5FE3-0383-4DAD-8559-975F6E17C38F}" presName="vert1" presStyleCnt="0"/>
      <dgm:spPr/>
    </dgm:pt>
    <dgm:pt modelId="{AD0AA566-0FBC-4E50-B1AD-3CCFBF839E61}" type="pres">
      <dgm:prSet presAssocID="{A0DC1952-72DE-405E-B31A-B3A56CDB8E61}" presName="thickLine" presStyleLbl="alignNode1" presStyleIdx="1" presStyleCnt="4"/>
      <dgm:spPr/>
    </dgm:pt>
    <dgm:pt modelId="{C26C28AF-1E24-4359-AB3E-2D5D477762D5}" type="pres">
      <dgm:prSet presAssocID="{A0DC1952-72DE-405E-B31A-B3A56CDB8E61}" presName="horz1" presStyleCnt="0"/>
      <dgm:spPr/>
    </dgm:pt>
    <dgm:pt modelId="{1D91EC7E-26E7-45FA-B63F-F53E6B073D52}" type="pres">
      <dgm:prSet presAssocID="{A0DC1952-72DE-405E-B31A-B3A56CDB8E61}" presName="tx1" presStyleLbl="revTx" presStyleIdx="1" presStyleCnt="4"/>
      <dgm:spPr/>
    </dgm:pt>
    <dgm:pt modelId="{A204F437-B299-4E9A-BB23-758A6F45A80D}" type="pres">
      <dgm:prSet presAssocID="{A0DC1952-72DE-405E-B31A-B3A56CDB8E61}" presName="vert1" presStyleCnt="0"/>
      <dgm:spPr/>
    </dgm:pt>
    <dgm:pt modelId="{304BBB96-88DD-42A9-B3F1-B98D67C2730B}" type="pres">
      <dgm:prSet presAssocID="{85BBFBE1-364F-4004-A2A4-B55F25C32FFB}" presName="thickLine" presStyleLbl="alignNode1" presStyleIdx="2" presStyleCnt="4"/>
      <dgm:spPr/>
    </dgm:pt>
    <dgm:pt modelId="{1E5CD4DF-1ED9-4FBB-80EB-FD634EC8AA4B}" type="pres">
      <dgm:prSet presAssocID="{85BBFBE1-364F-4004-A2A4-B55F25C32FFB}" presName="horz1" presStyleCnt="0"/>
      <dgm:spPr/>
    </dgm:pt>
    <dgm:pt modelId="{BD6F5FF3-A85F-4E2B-818B-068EEB39E71D}" type="pres">
      <dgm:prSet presAssocID="{85BBFBE1-364F-4004-A2A4-B55F25C32FFB}" presName="tx1" presStyleLbl="revTx" presStyleIdx="2" presStyleCnt="4"/>
      <dgm:spPr/>
    </dgm:pt>
    <dgm:pt modelId="{1DD74DF0-BCD4-4AE4-81B8-469ED9E49DBF}" type="pres">
      <dgm:prSet presAssocID="{85BBFBE1-364F-4004-A2A4-B55F25C32FFB}" presName="vert1" presStyleCnt="0"/>
      <dgm:spPr/>
    </dgm:pt>
    <dgm:pt modelId="{0A2EEF30-B121-43EB-84FD-25F6939AFCB4}" type="pres">
      <dgm:prSet presAssocID="{3D22FCA0-26F3-434E-9A2E-CD1AD46E57D9}" presName="thickLine" presStyleLbl="alignNode1" presStyleIdx="3" presStyleCnt="4"/>
      <dgm:spPr/>
    </dgm:pt>
    <dgm:pt modelId="{3AE64F00-124F-4BFF-B821-86B84413BB18}" type="pres">
      <dgm:prSet presAssocID="{3D22FCA0-26F3-434E-9A2E-CD1AD46E57D9}" presName="horz1" presStyleCnt="0"/>
      <dgm:spPr/>
    </dgm:pt>
    <dgm:pt modelId="{3DB5E87A-5CEC-43A6-9818-CA6D5AAC66C9}" type="pres">
      <dgm:prSet presAssocID="{3D22FCA0-26F3-434E-9A2E-CD1AD46E57D9}" presName="tx1" presStyleLbl="revTx" presStyleIdx="3" presStyleCnt="4"/>
      <dgm:spPr/>
    </dgm:pt>
    <dgm:pt modelId="{6DB0625A-93CD-405F-9F51-4A999B8CEF93}" type="pres">
      <dgm:prSet presAssocID="{3D22FCA0-26F3-434E-9A2E-CD1AD46E57D9}" presName="vert1" presStyleCnt="0"/>
      <dgm:spPr/>
    </dgm:pt>
  </dgm:ptLst>
  <dgm:cxnLst>
    <dgm:cxn modelId="{85E0172A-0CF0-4B91-8797-31E32E5433BE}" type="presOf" srcId="{85BBFBE1-364F-4004-A2A4-B55F25C32FFB}" destId="{BD6F5FF3-A85F-4E2B-818B-068EEB39E71D}" srcOrd="0" destOrd="0" presId="urn:microsoft.com/office/officeart/2008/layout/LinedList"/>
    <dgm:cxn modelId="{436BAA3B-ABDA-4F7B-840A-FB90FFDDC469}" srcId="{65E787C7-FF65-48FA-A0E3-069DDD001D60}" destId="{85BBFBE1-364F-4004-A2A4-B55F25C32FFB}" srcOrd="2" destOrd="0" parTransId="{9C37136A-7A96-4FF8-B30A-0B8A4A8AFC67}" sibTransId="{D203727A-AD1F-4E65-BF8E-84E8D8B5E56F}"/>
    <dgm:cxn modelId="{D4E86C45-9E81-4937-8134-0472A0DD5B59}" type="presOf" srcId="{CB3E5FE3-0383-4DAD-8559-975F6E17C38F}" destId="{B8D48CCD-DDD7-4A63-ADB6-E6E39E5E88DC}" srcOrd="0" destOrd="0" presId="urn:microsoft.com/office/officeart/2008/layout/LinedList"/>
    <dgm:cxn modelId="{121D8B86-4683-420D-89A4-FAFA4A2FF214}" srcId="{65E787C7-FF65-48FA-A0E3-069DDD001D60}" destId="{A0DC1952-72DE-405E-B31A-B3A56CDB8E61}" srcOrd="1" destOrd="0" parTransId="{D2D50E28-27D5-48A2-9567-FB00D6FAEDAA}" sibTransId="{7D80A1B6-B3CB-4DA0-A5B7-F7D2FCB200ED}"/>
    <dgm:cxn modelId="{10073B95-F118-47D1-8BFC-D8E6E70C7D6E}" srcId="{65E787C7-FF65-48FA-A0E3-069DDD001D60}" destId="{CB3E5FE3-0383-4DAD-8559-975F6E17C38F}" srcOrd="0" destOrd="0" parTransId="{4C0672FB-D30B-4F0C-8D2F-52DDD3AF9802}" sibTransId="{5336308A-E643-47C1-95B4-BCEE87FA1468}"/>
    <dgm:cxn modelId="{E2DA3F98-FA6C-4037-B214-E6074327C6B2}" type="presOf" srcId="{A0DC1952-72DE-405E-B31A-B3A56CDB8E61}" destId="{1D91EC7E-26E7-45FA-B63F-F53E6B073D52}" srcOrd="0" destOrd="0" presId="urn:microsoft.com/office/officeart/2008/layout/LinedList"/>
    <dgm:cxn modelId="{759323C3-4027-40F7-B82F-BFFA7AAE5515}" srcId="{65E787C7-FF65-48FA-A0E3-069DDD001D60}" destId="{3D22FCA0-26F3-434E-9A2E-CD1AD46E57D9}" srcOrd="3" destOrd="0" parTransId="{6A67C6CE-E941-4086-A908-4A4EA5AD239D}" sibTransId="{7DF9A008-ACB7-4889-B985-77769E837E2D}"/>
    <dgm:cxn modelId="{970554C3-A527-47EE-9518-4C70FF41D97E}" type="presOf" srcId="{3D22FCA0-26F3-434E-9A2E-CD1AD46E57D9}" destId="{3DB5E87A-5CEC-43A6-9818-CA6D5AAC66C9}" srcOrd="0" destOrd="0" presId="urn:microsoft.com/office/officeart/2008/layout/LinedList"/>
    <dgm:cxn modelId="{E9ECA4D1-5787-4AAE-A31A-14BAAA8AA9E1}" type="presOf" srcId="{65E787C7-FF65-48FA-A0E3-069DDD001D60}" destId="{389F5700-1821-4690-9FB3-F91B93C6B936}" srcOrd="0" destOrd="0" presId="urn:microsoft.com/office/officeart/2008/layout/LinedList"/>
    <dgm:cxn modelId="{BB67FECB-7E6F-471C-802D-880CAAEA144B}" type="presParOf" srcId="{389F5700-1821-4690-9FB3-F91B93C6B936}" destId="{31C8B2EC-BCDA-4BB7-B95A-CB5F570D2589}" srcOrd="0" destOrd="0" presId="urn:microsoft.com/office/officeart/2008/layout/LinedList"/>
    <dgm:cxn modelId="{46CDE232-721F-4F8B-881F-6CA85C4698A9}" type="presParOf" srcId="{389F5700-1821-4690-9FB3-F91B93C6B936}" destId="{F858DC53-255C-4DA2-ACD6-63747ADA4D9A}" srcOrd="1" destOrd="0" presId="urn:microsoft.com/office/officeart/2008/layout/LinedList"/>
    <dgm:cxn modelId="{8064664B-4E03-4A50-BBBA-D83EFABA1779}" type="presParOf" srcId="{F858DC53-255C-4DA2-ACD6-63747ADA4D9A}" destId="{B8D48CCD-DDD7-4A63-ADB6-E6E39E5E88DC}" srcOrd="0" destOrd="0" presId="urn:microsoft.com/office/officeart/2008/layout/LinedList"/>
    <dgm:cxn modelId="{1C388C56-13C7-44FC-8338-7E929CB702C9}" type="presParOf" srcId="{F858DC53-255C-4DA2-ACD6-63747ADA4D9A}" destId="{CAEC28B2-753C-4A3F-84BE-A2D4340D637E}" srcOrd="1" destOrd="0" presId="urn:microsoft.com/office/officeart/2008/layout/LinedList"/>
    <dgm:cxn modelId="{C47FA243-0E86-4B21-9BFC-413E84134C55}" type="presParOf" srcId="{389F5700-1821-4690-9FB3-F91B93C6B936}" destId="{AD0AA566-0FBC-4E50-B1AD-3CCFBF839E61}" srcOrd="2" destOrd="0" presId="urn:microsoft.com/office/officeart/2008/layout/LinedList"/>
    <dgm:cxn modelId="{FE79CA9F-8185-4F54-AD57-45F50BE4A1B3}" type="presParOf" srcId="{389F5700-1821-4690-9FB3-F91B93C6B936}" destId="{C26C28AF-1E24-4359-AB3E-2D5D477762D5}" srcOrd="3" destOrd="0" presId="urn:microsoft.com/office/officeart/2008/layout/LinedList"/>
    <dgm:cxn modelId="{C77F4611-A2D3-4F35-96E3-CF1D5FA1AA9D}" type="presParOf" srcId="{C26C28AF-1E24-4359-AB3E-2D5D477762D5}" destId="{1D91EC7E-26E7-45FA-B63F-F53E6B073D52}" srcOrd="0" destOrd="0" presId="urn:microsoft.com/office/officeart/2008/layout/LinedList"/>
    <dgm:cxn modelId="{556100FC-ECBC-43D2-9BC9-702E0D341BEE}" type="presParOf" srcId="{C26C28AF-1E24-4359-AB3E-2D5D477762D5}" destId="{A204F437-B299-4E9A-BB23-758A6F45A80D}" srcOrd="1" destOrd="0" presId="urn:microsoft.com/office/officeart/2008/layout/LinedList"/>
    <dgm:cxn modelId="{D3A2D0C4-F936-4B63-9F55-EE7216EAE3ED}" type="presParOf" srcId="{389F5700-1821-4690-9FB3-F91B93C6B936}" destId="{304BBB96-88DD-42A9-B3F1-B98D67C2730B}" srcOrd="4" destOrd="0" presId="urn:microsoft.com/office/officeart/2008/layout/LinedList"/>
    <dgm:cxn modelId="{09C6F930-46B7-4DC7-AF5D-1328B7242068}" type="presParOf" srcId="{389F5700-1821-4690-9FB3-F91B93C6B936}" destId="{1E5CD4DF-1ED9-4FBB-80EB-FD634EC8AA4B}" srcOrd="5" destOrd="0" presId="urn:microsoft.com/office/officeart/2008/layout/LinedList"/>
    <dgm:cxn modelId="{D88D01B2-BCD3-4BBD-B7DC-FA17DE18C8F9}" type="presParOf" srcId="{1E5CD4DF-1ED9-4FBB-80EB-FD634EC8AA4B}" destId="{BD6F5FF3-A85F-4E2B-818B-068EEB39E71D}" srcOrd="0" destOrd="0" presId="urn:microsoft.com/office/officeart/2008/layout/LinedList"/>
    <dgm:cxn modelId="{C967ADF1-E9F6-4B7A-B190-079D63821ECA}" type="presParOf" srcId="{1E5CD4DF-1ED9-4FBB-80EB-FD634EC8AA4B}" destId="{1DD74DF0-BCD4-4AE4-81B8-469ED9E49DBF}" srcOrd="1" destOrd="0" presId="urn:microsoft.com/office/officeart/2008/layout/LinedList"/>
    <dgm:cxn modelId="{3076C4D8-4B72-40B7-BF18-E4AB120FCC70}" type="presParOf" srcId="{389F5700-1821-4690-9FB3-F91B93C6B936}" destId="{0A2EEF30-B121-43EB-84FD-25F6939AFCB4}" srcOrd="6" destOrd="0" presId="urn:microsoft.com/office/officeart/2008/layout/LinedList"/>
    <dgm:cxn modelId="{16C062CC-CB74-43BB-908F-9C8C87222D6F}" type="presParOf" srcId="{389F5700-1821-4690-9FB3-F91B93C6B936}" destId="{3AE64F00-124F-4BFF-B821-86B84413BB18}" srcOrd="7" destOrd="0" presId="urn:microsoft.com/office/officeart/2008/layout/LinedList"/>
    <dgm:cxn modelId="{30254EAA-4683-4C7A-804F-9F1D72A46F35}" type="presParOf" srcId="{3AE64F00-124F-4BFF-B821-86B84413BB18}" destId="{3DB5E87A-5CEC-43A6-9818-CA6D5AAC66C9}" srcOrd="0" destOrd="0" presId="urn:microsoft.com/office/officeart/2008/layout/LinedList"/>
    <dgm:cxn modelId="{AFBB22E5-9F93-4AA6-B896-518E85373209}" type="presParOf" srcId="{3AE64F00-124F-4BFF-B821-86B84413BB18}" destId="{6DB0625A-93CD-405F-9F51-4A999B8CEF9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E787C7-FF65-48FA-A0E3-069DDD001D6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B3E5FE3-0383-4DAD-8559-975F6E17C38F}">
      <dgm:prSet/>
      <dgm:spPr/>
      <dgm:t>
        <a:bodyPr/>
        <a:lstStyle/>
        <a:p>
          <a:r>
            <a:rPr lang="en-US" b="1" dirty="0" err="1"/>
            <a:t>Srep</a:t>
          </a:r>
          <a:r>
            <a:rPr lang="en-US" dirty="0"/>
            <a:t>: single-round equilibrium player; plays according to the (mixed) strategy Nash Equilibrium of the base game in every round.</a:t>
          </a:r>
        </a:p>
      </dgm:t>
    </dgm:pt>
    <dgm:pt modelId="{4C0672FB-D30B-4F0C-8D2F-52DDD3AF9802}" type="parTrans" cxnId="{10073B95-F118-47D1-8BFC-D8E6E70C7D6E}">
      <dgm:prSet/>
      <dgm:spPr/>
      <dgm:t>
        <a:bodyPr/>
        <a:lstStyle/>
        <a:p>
          <a:endParaRPr lang="en-US"/>
        </a:p>
      </dgm:t>
    </dgm:pt>
    <dgm:pt modelId="{5336308A-E643-47C1-95B4-BCEE87FA1468}" type="sibTrans" cxnId="{10073B95-F118-47D1-8BFC-D8E6E70C7D6E}">
      <dgm:prSet/>
      <dgm:spPr/>
      <dgm:t>
        <a:bodyPr/>
        <a:lstStyle/>
        <a:p>
          <a:endParaRPr lang="en-US"/>
        </a:p>
      </dgm:t>
    </dgm:pt>
    <dgm:pt modelId="{A0DC1952-72DE-405E-B31A-B3A56CDB8E61}">
      <dgm:prSet/>
      <dgm:spPr/>
      <dgm:t>
        <a:bodyPr/>
        <a:lstStyle/>
        <a:p>
          <a:r>
            <a:rPr lang="en-US" b="1" dirty="0"/>
            <a:t>Pp</a:t>
          </a:r>
          <a:r>
            <a:rPr lang="en-US" dirty="0"/>
            <a:t>: pattern player; repeats the same pattern of moves.</a:t>
          </a:r>
        </a:p>
      </dgm:t>
    </dgm:pt>
    <dgm:pt modelId="{D2D50E28-27D5-48A2-9567-FB00D6FAEDAA}" type="parTrans" cxnId="{121D8B86-4683-420D-89A4-FAFA4A2FF214}">
      <dgm:prSet/>
      <dgm:spPr/>
      <dgm:t>
        <a:bodyPr/>
        <a:lstStyle/>
        <a:p>
          <a:endParaRPr lang="en-US"/>
        </a:p>
      </dgm:t>
    </dgm:pt>
    <dgm:pt modelId="{7D80A1B6-B3CB-4DA0-A5B7-F7D2FCB200ED}" type="sibTrans" cxnId="{121D8B86-4683-420D-89A4-FAFA4A2FF214}">
      <dgm:prSet/>
      <dgm:spPr/>
      <dgm:t>
        <a:bodyPr/>
        <a:lstStyle/>
        <a:p>
          <a:endParaRPr lang="en-US"/>
        </a:p>
      </dgm:t>
    </dgm:pt>
    <dgm:pt modelId="{85BBFBE1-364F-4004-A2A4-B55F25C32FFB}">
      <dgm:prSet/>
      <dgm:spPr/>
      <dgm:t>
        <a:bodyPr/>
        <a:lstStyle/>
        <a:p>
          <a:r>
            <a:rPr lang="en-US" b="1" dirty="0" err="1"/>
            <a:t>Tft</a:t>
          </a:r>
          <a:r>
            <a:rPr lang="en-US" dirty="0"/>
            <a:t>: Tit-for-Tat player; plays the move that is best paired with the opponent’s last move.</a:t>
          </a:r>
        </a:p>
      </dgm:t>
    </dgm:pt>
    <dgm:pt modelId="{9C37136A-7A96-4FF8-B30A-0B8A4A8AFC67}" type="parTrans" cxnId="{436BAA3B-ABDA-4F7B-840A-FB90FFDDC469}">
      <dgm:prSet/>
      <dgm:spPr/>
      <dgm:t>
        <a:bodyPr/>
        <a:lstStyle/>
        <a:p>
          <a:endParaRPr lang="en-US"/>
        </a:p>
      </dgm:t>
    </dgm:pt>
    <dgm:pt modelId="{D203727A-AD1F-4E65-BF8E-84E8D8B5E56F}" type="sibTrans" cxnId="{436BAA3B-ABDA-4F7B-840A-FB90FFDDC469}">
      <dgm:prSet/>
      <dgm:spPr/>
      <dgm:t>
        <a:bodyPr/>
        <a:lstStyle/>
        <a:p>
          <a:endParaRPr lang="en-US"/>
        </a:p>
      </dgm:t>
    </dgm:pt>
    <dgm:pt modelId="{6F37A038-3CA9-4702-96E6-D18A42037DA0}">
      <dgm:prSet/>
      <dgm:spPr/>
      <dgm:t>
        <a:bodyPr/>
        <a:lstStyle/>
        <a:p>
          <a:r>
            <a:rPr lang="en-US" b="1" dirty="0" err="1"/>
            <a:t>Mf</a:t>
          </a:r>
          <a:r>
            <a:rPr lang="en-US" dirty="0"/>
            <a:t> (maximizer of most frequent move) or </a:t>
          </a:r>
          <a:r>
            <a:rPr lang="en-US" b="1" dirty="0"/>
            <a:t>Ap</a:t>
          </a:r>
          <a:r>
            <a:rPr lang="en-US" dirty="0"/>
            <a:t> (Adaptive player): plays the move that is best paired with the opponent’s most frequent move.</a:t>
          </a:r>
        </a:p>
      </dgm:t>
    </dgm:pt>
    <dgm:pt modelId="{06A896AF-9863-4D35-8A9D-43C18B137C2C}" type="parTrans" cxnId="{FE8B6714-30BE-43A2-9867-F4C38432D600}">
      <dgm:prSet/>
      <dgm:spPr/>
      <dgm:t>
        <a:bodyPr/>
        <a:lstStyle/>
        <a:p>
          <a:endParaRPr lang="en-US"/>
        </a:p>
      </dgm:t>
    </dgm:pt>
    <dgm:pt modelId="{BB711A4E-574B-472D-89B1-EB738E49BCD2}" type="sibTrans" cxnId="{FE8B6714-30BE-43A2-9867-F4C38432D600}">
      <dgm:prSet/>
      <dgm:spPr/>
      <dgm:t>
        <a:bodyPr/>
        <a:lstStyle/>
        <a:p>
          <a:endParaRPr lang="en-US"/>
        </a:p>
      </dgm:t>
    </dgm:pt>
    <dgm:pt modelId="{389F5700-1821-4690-9FB3-F91B93C6B936}" type="pres">
      <dgm:prSet presAssocID="{65E787C7-FF65-48FA-A0E3-069DDD001D60}" presName="vert0" presStyleCnt="0">
        <dgm:presLayoutVars>
          <dgm:dir/>
          <dgm:animOne val="branch"/>
          <dgm:animLvl val="lvl"/>
        </dgm:presLayoutVars>
      </dgm:prSet>
      <dgm:spPr/>
    </dgm:pt>
    <dgm:pt modelId="{31C8B2EC-BCDA-4BB7-B95A-CB5F570D2589}" type="pres">
      <dgm:prSet presAssocID="{CB3E5FE3-0383-4DAD-8559-975F6E17C38F}" presName="thickLine" presStyleLbl="alignNode1" presStyleIdx="0" presStyleCnt="4"/>
      <dgm:spPr/>
    </dgm:pt>
    <dgm:pt modelId="{F858DC53-255C-4DA2-ACD6-63747ADA4D9A}" type="pres">
      <dgm:prSet presAssocID="{CB3E5FE3-0383-4DAD-8559-975F6E17C38F}" presName="horz1" presStyleCnt="0"/>
      <dgm:spPr/>
    </dgm:pt>
    <dgm:pt modelId="{B8D48CCD-DDD7-4A63-ADB6-E6E39E5E88DC}" type="pres">
      <dgm:prSet presAssocID="{CB3E5FE3-0383-4DAD-8559-975F6E17C38F}" presName="tx1" presStyleLbl="revTx" presStyleIdx="0" presStyleCnt="4"/>
      <dgm:spPr/>
    </dgm:pt>
    <dgm:pt modelId="{CAEC28B2-753C-4A3F-84BE-A2D4340D637E}" type="pres">
      <dgm:prSet presAssocID="{CB3E5FE3-0383-4DAD-8559-975F6E17C38F}" presName="vert1" presStyleCnt="0"/>
      <dgm:spPr/>
    </dgm:pt>
    <dgm:pt modelId="{AD0AA566-0FBC-4E50-B1AD-3CCFBF839E61}" type="pres">
      <dgm:prSet presAssocID="{A0DC1952-72DE-405E-B31A-B3A56CDB8E61}" presName="thickLine" presStyleLbl="alignNode1" presStyleIdx="1" presStyleCnt="4"/>
      <dgm:spPr/>
    </dgm:pt>
    <dgm:pt modelId="{C26C28AF-1E24-4359-AB3E-2D5D477762D5}" type="pres">
      <dgm:prSet presAssocID="{A0DC1952-72DE-405E-B31A-B3A56CDB8E61}" presName="horz1" presStyleCnt="0"/>
      <dgm:spPr/>
    </dgm:pt>
    <dgm:pt modelId="{1D91EC7E-26E7-45FA-B63F-F53E6B073D52}" type="pres">
      <dgm:prSet presAssocID="{A0DC1952-72DE-405E-B31A-B3A56CDB8E61}" presName="tx1" presStyleLbl="revTx" presStyleIdx="1" presStyleCnt="4"/>
      <dgm:spPr/>
    </dgm:pt>
    <dgm:pt modelId="{A204F437-B299-4E9A-BB23-758A6F45A80D}" type="pres">
      <dgm:prSet presAssocID="{A0DC1952-72DE-405E-B31A-B3A56CDB8E61}" presName="vert1" presStyleCnt="0"/>
      <dgm:spPr/>
    </dgm:pt>
    <dgm:pt modelId="{304BBB96-88DD-42A9-B3F1-B98D67C2730B}" type="pres">
      <dgm:prSet presAssocID="{85BBFBE1-364F-4004-A2A4-B55F25C32FFB}" presName="thickLine" presStyleLbl="alignNode1" presStyleIdx="2" presStyleCnt="4"/>
      <dgm:spPr/>
    </dgm:pt>
    <dgm:pt modelId="{1E5CD4DF-1ED9-4FBB-80EB-FD634EC8AA4B}" type="pres">
      <dgm:prSet presAssocID="{85BBFBE1-364F-4004-A2A4-B55F25C32FFB}" presName="horz1" presStyleCnt="0"/>
      <dgm:spPr/>
    </dgm:pt>
    <dgm:pt modelId="{BD6F5FF3-A85F-4E2B-818B-068EEB39E71D}" type="pres">
      <dgm:prSet presAssocID="{85BBFBE1-364F-4004-A2A4-B55F25C32FFB}" presName="tx1" presStyleLbl="revTx" presStyleIdx="2" presStyleCnt="4"/>
      <dgm:spPr/>
    </dgm:pt>
    <dgm:pt modelId="{1DD74DF0-BCD4-4AE4-81B8-469ED9E49DBF}" type="pres">
      <dgm:prSet presAssocID="{85BBFBE1-364F-4004-A2A4-B55F25C32FFB}" presName="vert1" presStyleCnt="0"/>
      <dgm:spPr/>
    </dgm:pt>
    <dgm:pt modelId="{54A8345E-81E4-4814-9C9E-C9723C3C1BAC}" type="pres">
      <dgm:prSet presAssocID="{6F37A038-3CA9-4702-96E6-D18A42037DA0}" presName="thickLine" presStyleLbl="alignNode1" presStyleIdx="3" presStyleCnt="4"/>
      <dgm:spPr/>
    </dgm:pt>
    <dgm:pt modelId="{79140B58-C3B1-4F4C-8D49-C0925EC52CC2}" type="pres">
      <dgm:prSet presAssocID="{6F37A038-3CA9-4702-96E6-D18A42037DA0}" presName="horz1" presStyleCnt="0"/>
      <dgm:spPr/>
    </dgm:pt>
    <dgm:pt modelId="{8913B6F1-D1F5-4DBB-BD8E-130DE0315C22}" type="pres">
      <dgm:prSet presAssocID="{6F37A038-3CA9-4702-96E6-D18A42037DA0}" presName="tx1" presStyleLbl="revTx" presStyleIdx="3" presStyleCnt="4"/>
      <dgm:spPr/>
    </dgm:pt>
    <dgm:pt modelId="{D3A6BDAC-5058-4B97-92BC-027ABE0DBE55}" type="pres">
      <dgm:prSet presAssocID="{6F37A038-3CA9-4702-96E6-D18A42037DA0}" presName="vert1" presStyleCnt="0"/>
      <dgm:spPr/>
    </dgm:pt>
  </dgm:ptLst>
  <dgm:cxnLst>
    <dgm:cxn modelId="{FE8B6714-30BE-43A2-9867-F4C38432D600}" srcId="{65E787C7-FF65-48FA-A0E3-069DDD001D60}" destId="{6F37A038-3CA9-4702-96E6-D18A42037DA0}" srcOrd="3" destOrd="0" parTransId="{06A896AF-9863-4D35-8A9D-43C18B137C2C}" sibTransId="{BB711A4E-574B-472D-89B1-EB738E49BCD2}"/>
    <dgm:cxn modelId="{85E0172A-0CF0-4B91-8797-31E32E5433BE}" type="presOf" srcId="{85BBFBE1-364F-4004-A2A4-B55F25C32FFB}" destId="{BD6F5FF3-A85F-4E2B-818B-068EEB39E71D}" srcOrd="0" destOrd="0" presId="urn:microsoft.com/office/officeart/2008/layout/LinedList"/>
    <dgm:cxn modelId="{436BAA3B-ABDA-4F7B-840A-FB90FFDDC469}" srcId="{65E787C7-FF65-48FA-A0E3-069DDD001D60}" destId="{85BBFBE1-364F-4004-A2A4-B55F25C32FFB}" srcOrd="2" destOrd="0" parTransId="{9C37136A-7A96-4FF8-B30A-0B8A4A8AFC67}" sibTransId="{D203727A-AD1F-4E65-BF8E-84E8D8B5E56F}"/>
    <dgm:cxn modelId="{D4E86C45-9E81-4937-8134-0472A0DD5B59}" type="presOf" srcId="{CB3E5FE3-0383-4DAD-8559-975F6E17C38F}" destId="{B8D48CCD-DDD7-4A63-ADB6-E6E39E5E88DC}" srcOrd="0" destOrd="0" presId="urn:microsoft.com/office/officeart/2008/layout/LinedList"/>
    <dgm:cxn modelId="{121D8B86-4683-420D-89A4-FAFA4A2FF214}" srcId="{65E787C7-FF65-48FA-A0E3-069DDD001D60}" destId="{A0DC1952-72DE-405E-B31A-B3A56CDB8E61}" srcOrd="1" destOrd="0" parTransId="{D2D50E28-27D5-48A2-9567-FB00D6FAEDAA}" sibTransId="{7D80A1B6-B3CB-4DA0-A5B7-F7D2FCB200ED}"/>
    <dgm:cxn modelId="{10073B95-F118-47D1-8BFC-D8E6E70C7D6E}" srcId="{65E787C7-FF65-48FA-A0E3-069DDD001D60}" destId="{CB3E5FE3-0383-4DAD-8559-975F6E17C38F}" srcOrd="0" destOrd="0" parTransId="{4C0672FB-D30B-4F0C-8D2F-52DDD3AF9802}" sibTransId="{5336308A-E643-47C1-95B4-BCEE87FA1468}"/>
    <dgm:cxn modelId="{E2DA3F98-FA6C-4037-B214-E6074327C6B2}" type="presOf" srcId="{A0DC1952-72DE-405E-B31A-B3A56CDB8E61}" destId="{1D91EC7E-26E7-45FA-B63F-F53E6B073D52}" srcOrd="0" destOrd="0" presId="urn:microsoft.com/office/officeart/2008/layout/LinedList"/>
    <dgm:cxn modelId="{072A7FA1-B5D4-49CC-A9D5-EA1B955193C3}" type="presOf" srcId="{6F37A038-3CA9-4702-96E6-D18A42037DA0}" destId="{8913B6F1-D1F5-4DBB-BD8E-130DE0315C22}" srcOrd="0" destOrd="0" presId="urn:microsoft.com/office/officeart/2008/layout/LinedList"/>
    <dgm:cxn modelId="{E9ECA4D1-5787-4AAE-A31A-14BAAA8AA9E1}" type="presOf" srcId="{65E787C7-FF65-48FA-A0E3-069DDD001D60}" destId="{389F5700-1821-4690-9FB3-F91B93C6B936}" srcOrd="0" destOrd="0" presId="urn:microsoft.com/office/officeart/2008/layout/LinedList"/>
    <dgm:cxn modelId="{BB67FECB-7E6F-471C-802D-880CAAEA144B}" type="presParOf" srcId="{389F5700-1821-4690-9FB3-F91B93C6B936}" destId="{31C8B2EC-BCDA-4BB7-B95A-CB5F570D2589}" srcOrd="0" destOrd="0" presId="urn:microsoft.com/office/officeart/2008/layout/LinedList"/>
    <dgm:cxn modelId="{46CDE232-721F-4F8B-881F-6CA85C4698A9}" type="presParOf" srcId="{389F5700-1821-4690-9FB3-F91B93C6B936}" destId="{F858DC53-255C-4DA2-ACD6-63747ADA4D9A}" srcOrd="1" destOrd="0" presId="urn:microsoft.com/office/officeart/2008/layout/LinedList"/>
    <dgm:cxn modelId="{8064664B-4E03-4A50-BBBA-D83EFABA1779}" type="presParOf" srcId="{F858DC53-255C-4DA2-ACD6-63747ADA4D9A}" destId="{B8D48CCD-DDD7-4A63-ADB6-E6E39E5E88DC}" srcOrd="0" destOrd="0" presId="urn:microsoft.com/office/officeart/2008/layout/LinedList"/>
    <dgm:cxn modelId="{1C388C56-13C7-44FC-8338-7E929CB702C9}" type="presParOf" srcId="{F858DC53-255C-4DA2-ACD6-63747ADA4D9A}" destId="{CAEC28B2-753C-4A3F-84BE-A2D4340D637E}" srcOrd="1" destOrd="0" presId="urn:microsoft.com/office/officeart/2008/layout/LinedList"/>
    <dgm:cxn modelId="{C47FA243-0E86-4B21-9BFC-413E84134C55}" type="presParOf" srcId="{389F5700-1821-4690-9FB3-F91B93C6B936}" destId="{AD0AA566-0FBC-4E50-B1AD-3CCFBF839E61}" srcOrd="2" destOrd="0" presId="urn:microsoft.com/office/officeart/2008/layout/LinedList"/>
    <dgm:cxn modelId="{FE79CA9F-8185-4F54-AD57-45F50BE4A1B3}" type="presParOf" srcId="{389F5700-1821-4690-9FB3-F91B93C6B936}" destId="{C26C28AF-1E24-4359-AB3E-2D5D477762D5}" srcOrd="3" destOrd="0" presId="urn:microsoft.com/office/officeart/2008/layout/LinedList"/>
    <dgm:cxn modelId="{C77F4611-A2D3-4F35-96E3-CF1D5FA1AA9D}" type="presParOf" srcId="{C26C28AF-1E24-4359-AB3E-2D5D477762D5}" destId="{1D91EC7E-26E7-45FA-B63F-F53E6B073D52}" srcOrd="0" destOrd="0" presId="urn:microsoft.com/office/officeart/2008/layout/LinedList"/>
    <dgm:cxn modelId="{556100FC-ECBC-43D2-9BC9-702E0D341BEE}" type="presParOf" srcId="{C26C28AF-1E24-4359-AB3E-2D5D477762D5}" destId="{A204F437-B299-4E9A-BB23-758A6F45A80D}" srcOrd="1" destOrd="0" presId="urn:microsoft.com/office/officeart/2008/layout/LinedList"/>
    <dgm:cxn modelId="{D3A2D0C4-F936-4B63-9F55-EE7216EAE3ED}" type="presParOf" srcId="{389F5700-1821-4690-9FB3-F91B93C6B936}" destId="{304BBB96-88DD-42A9-B3F1-B98D67C2730B}" srcOrd="4" destOrd="0" presId="urn:microsoft.com/office/officeart/2008/layout/LinedList"/>
    <dgm:cxn modelId="{09C6F930-46B7-4DC7-AF5D-1328B7242068}" type="presParOf" srcId="{389F5700-1821-4690-9FB3-F91B93C6B936}" destId="{1E5CD4DF-1ED9-4FBB-80EB-FD634EC8AA4B}" srcOrd="5" destOrd="0" presId="urn:microsoft.com/office/officeart/2008/layout/LinedList"/>
    <dgm:cxn modelId="{D88D01B2-BCD3-4BBD-B7DC-FA17DE18C8F9}" type="presParOf" srcId="{1E5CD4DF-1ED9-4FBB-80EB-FD634EC8AA4B}" destId="{BD6F5FF3-A85F-4E2B-818B-068EEB39E71D}" srcOrd="0" destOrd="0" presId="urn:microsoft.com/office/officeart/2008/layout/LinedList"/>
    <dgm:cxn modelId="{C967ADF1-E9F6-4B7A-B190-079D63821ECA}" type="presParOf" srcId="{1E5CD4DF-1ED9-4FBB-80EB-FD634EC8AA4B}" destId="{1DD74DF0-BCD4-4AE4-81B8-469ED9E49DBF}" srcOrd="1" destOrd="0" presId="urn:microsoft.com/office/officeart/2008/layout/LinedList"/>
    <dgm:cxn modelId="{34D9FD47-993C-48B4-A284-C297FD78575C}" type="presParOf" srcId="{389F5700-1821-4690-9FB3-F91B93C6B936}" destId="{54A8345E-81E4-4814-9C9E-C9723C3C1BAC}" srcOrd="6" destOrd="0" presId="urn:microsoft.com/office/officeart/2008/layout/LinedList"/>
    <dgm:cxn modelId="{00CD1107-9840-42B5-AB94-068E69F6907F}" type="presParOf" srcId="{389F5700-1821-4690-9FB3-F91B93C6B936}" destId="{79140B58-C3B1-4F4C-8D49-C0925EC52CC2}" srcOrd="7" destOrd="0" presId="urn:microsoft.com/office/officeart/2008/layout/LinedList"/>
    <dgm:cxn modelId="{1C6BDCCC-4BE2-467C-8439-8DE4E79DCA47}" type="presParOf" srcId="{79140B58-C3B1-4F4C-8D49-C0925EC52CC2}" destId="{8913B6F1-D1F5-4DBB-BD8E-130DE0315C22}" srcOrd="0" destOrd="0" presId="urn:microsoft.com/office/officeart/2008/layout/LinedList"/>
    <dgm:cxn modelId="{8C398BFD-9F17-4AFA-AEF9-7D566C651141}" type="presParOf" srcId="{79140B58-C3B1-4F4C-8D49-C0925EC52CC2}" destId="{D3A6BDAC-5058-4B97-92BC-027ABE0DBE5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1E9DFC-7F3C-4E49-9595-709D4041126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C45FB5-DFBB-40FA-B4C8-8658496C196C}">
      <dgm:prSet/>
      <dgm:spPr/>
      <dgm:t>
        <a:bodyPr/>
        <a:lstStyle/>
        <a:p>
          <a:r>
            <a:rPr lang="en-US" b="1" dirty="0"/>
            <a:t>Effective Counterfactual Reasoning</a:t>
          </a:r>
          <a:endParaRPr lang="en-US" dirty="0"/>
        </a:p>
      </dgm:t>
    </dgm:pt>
    <dgm:pt modelId="{C78CFE46-37D8-4E8F-B9BD-59095DD8BCC7}" type="parTrans" cxnId="{2EBCAFA9-CCF6-4C73-A0BF-7357E5A6A390}">
      <dgm:prSet/>
      <dgm:spPr/>
      <dgm:t>
        <a:bodyPr/>
        <a:lstStyle/>
        <a:p>
          <a:endParaRPr lang="en-US"/>
        </a:p>
      </dgm:t>
    </dgm:pt>
    <dgm:pt modelId="{30C39E1C-8856-4266-BB1B-5625E16B683A}" type="sibTrans" cxnId="{2EBCAFA9-CCF6-4C73-A0BF-7357E5A6A390}">
      <dgm:prSet/>
      <dgm:spPr/>
      <dgm:t>
        <a:bodyPr/>
        <a:lstStyle/>
        <a:p>
          <a:endParaRPr lang="en-US"/>
        </a:p>
      </dgm:t>
    </dgm:pt>
    <dgm:pt modelId="{085072BE-CDE3-4CB7-AC54-3392788D4BED}">
      <dgm:prSet/>
      <dgm:spPr/>
      <dgm:t>
        <a:bodyPr/>
        <a:lstStyle/>
        <a:p>
          <a:r>
            <a:rPr lang="en-US" b="1" dirty="0"/>
            <a:t>Bias Dissipation in Repeated Games</a:t>
          </a:r>
          <a:endParaRPr lang="en-US" dirty="0"/>
        </a:p>
      </dgm:t>
    </dgm:pt>
    <dgm:pt modelId="{9FE97E85-C15B-45D2-9D6F-C50FA43EA384}" type="parTrans" cxnId="{B594FAF8-CEFD-4EC3-8355-C8F8C91EBDD9}">
      <dgm:prSet/>
      <dgm:spPr/>
      <dgm:t>
        <a:bodyPr/>
        <a:lstStyle/>
        <a:p>
          <a:endParaRPr lang="en-US"/>
        </a:p>
      </dgm:t>
    </dgm:pt>
    <dgm:pt modelId="{B558F9AD-445F-4D64-BFAD-CEE6AA0F4688}" type="sibTrans" cxnId="{B594FAF8-CEFD-4EC3-8355-C8F8C91EBDD9}">
      <dgm:prSet/>
      <dgm:spPr/>
      <dgm:t>
        <a:bodyPr/>
        <a:lstStyle/>
        <a:p>
          <a:endParaRPr lang="en-US"/>
        </a:p>
      </dgm:t>
    </dgm:pt>
    <dgm:pt modelId="{7CDB1CE3-B5D9-412F-BE2A-E2535DFD90E3}">
      <dgm:prSet/>
      <dgm:spPr/>
      <dgm:t>
        <a:bodyPr/>
        <a:lstStyle/>
        <a:p>
          <a:r>
            <a:rPr lang="en-US" b="1" dirty="0"/>
            <a:t>Capacity – Complexity Alignment</a:t>
          </a:r>
          <a:endParaRPr lang="en-US" dirty="0"/>
        </a:p>
      </dgm:t>
    </dgm:pt>
    <dgm:pt modelId="{49FC90B2-EEEE-4067-A41E-24601881EBCE}" type="parTrans" cxnId="{207474A3-8F5A-4974-9D0F-D21971398811}">
      <dgm:prSet/>
      <dgm:spPr/>
      <dgm:t>
        <a:bodyPr/>
        <a:lstStyle/>
        <a:p>
          <a:endParaRPr lang="en-US"/>
        </a:p>
      </dgm:t>
    </dgm:pt>
    <dgm:pt modelId="{6F9F8E44-4E97-4A05-8E83-0F3083F139DC}" type="sibTrans" cxnId="{207474A3-8F5A-4974-9D0F-D21971398811}">
      <dgm:prSet/>
      <dgm:spPr/>
      <dgm:t>
        <a:bodyPr/>
        <a:lstStyle/>
        <a:p>
          <a:endParaRPr lang="en-US"/>
        </a:p>
      </dgm:t>
    </dgm:pt>
    <dgm:pt modelId="{452C56E9-0FD9-49B8-9A8B-DB9BC7CE7AA3}">
      <dgm:prSet/>
      <dgm:spPr/>
      <dgm:t>
        <a:bodyPr/>
        <a:lstStyle/>
        <a:p>
          <a:r>
            <a:rPr lang="en-US" b="1" dirty="0"/>
            <a:t>Dynamic Strategy Adaptation</a:t>
          </a:r>
        </a:p>
      </dgm:t>
    </dgm:pt>
    <dgm:pt modelId="{0E074AC6-975E-4C7E-8891-E4D93EAAA73C}" type="parTrans" cxnId="{E5FE4945-C6B5-46BC-9D9B-12B8857F5003}">
      <dgm:prSet/>
      <dgm:spPr/>
      <dgm:t>
        <a:bodyPr/>
        <a:lstStyle/>
        <a:p>
          <a:endParaRPr lang="en-US"/>
        </a:p>
      </dgm:t>
    </dgm:pt>
    <dgm:pt modelId="{54987729-4DCC-4E69-8685-D8DA3A62C5D2}" type="sibTrans" cxnId="{E5FE4945-C6B5-46BC-9D9B-12B8857F5003}">
      <dgm:prSet/>
      <dgm:spPr/>
      <dgm:t>
        <a:bodyPr/>
        <a:lstStyle/>
        <a:p>
          <a:endParaRPr lang="en-US"/>
        </a:p>
      </dgm:t>
    </dgm:pt>
    <dgm:pt modelId="{189266A0-FC95-4E30-9E46-838984DFA611}">
      <dgm:prSet/>
      <dgm:spPr/>
      <dgm:t>
        <a:bodyPr/>
        <a:lstStyle/>
        <a:p>
          <a:r>
            <a:rPr lang="en-US" b="1" dirty="0"/>
            <a:t>Prompting Efficiency</a:t>
          </a:r>
          <a:r>
            <a:rPr lang="en-US" dirty="0"/>
            <a:t>: Structured prompts (</a:t>
          </a:r>
          <a:r>
            <a:rPr lang="en-US" dirty="0" err="1"/>
            <a:t>CoT</a:t>
          </a:r>
          <a:r>
            <a:rPr lang="en-US" dirty="0"/>
            <a:t>, SPP, Self-Consistency) improved efficiency in smaller models; Self-Consistency often not cost-effective.</a:t>
          </a:r>
        </a:p>
      </dgm:t>
    </dgm:pt>
    <dgm:pt modelId="{C45A05AD-35A8-44FB-8A1C-FA94B177131E}" type="parTrans" cxnId="{6CFDB1B6-68D8-4BAA-BC91-2371557A780A}">
      <dgm:prSet/>
      <dgm:spPr/>
      <dgm:t>
        <a:bodyPr/>
        <a:lstStyle/>
        <a:p>
          <a:endParaRPr lang="en-US"/>
        </a:p>
      </dgm:t>
    </dgm:pt>
    <dgm:pt modelId="{AE998E22-833D-4F3F-BCEC-E75E92DB6FAA}" type="sibTrans" cxnId="{6CFDB1B6-68D8-4BAA-BC91-2371557A780A}">
      <dgm:prSet/>
      <dgm:spPr/>
      <dgm:t>
        <a:bodyPr/>
        <a:lstStyle/>
        <a:p>
          <a:endParaRPr lang="en-US"/>
        </a:p>
      </dgm:t>
    </dgm:pt>
    <dgm:pt modelId="{7720EC0D-2147-4170-A8E1-FF7ACA7E1388}">
      <dgm:prSet/>
      <dgm:spPr/>
      <dgm:t>
        <a:bodyPr/>
        <a:lstStyle/>
        <a:p>
          <a:r>
            <a:rPr lang="en-US" b="1" dirty="0"/>
            <a:t>“Thinking” Model Variants</a:t>
          </a:r>
          <a:r>
            <a:rPr lang="en-US" dirty="0"/>
            <a:t>: “Thinking” LLMs sometimes outperformed defaults, but also showed greater confusion, echoing recent concerns about reasoning fragility.</a:t>
          </a:r>
        </a:p>
      </dgm:t>
    </dgm:pt>
    <dgm:pt modelId="{DA2C64FB-E3FF-4661-89FF-33D0395BFFE0}" type="parTrans" cxnId="{3C030796-8733-4CFB-B77C-4B18AE494F70}">
      <dgm:prSet/>
      <dgm:spPr/>
      <dgm:t>
        <a:bodyPr/>
        <a:lstStyle/>
        <a:p>
          <a:endParaRPr lang="en-US"/>
        </a:p>
      </dgm:t>
    </dgm:pt>
    <dgm:pt modelId="{DF741D83-4E01-47BE-9A15-7A8573A3F098}" type="sibTrans" cxnId="{3C030796-8733-4CFB-B77C-4B18AE494F70}">
      <dgm:prSet/>
      <dgm:spPr/>
      <dgm:t>
        <a:bodyPr/>
        <a:lstStyle/>
        <a:p>
          <a:endParaRPr lang="en-US"/>
        </a:p>
      </dgm:t>
    </dgm:pt>
    <dgm:pt modelId="{4575E56C-6AD6-4216-8A65-A1ECD8DB2B4C}">
      <dgm:prSet/>
      <dgm:spPr/>
      <dgm:t>
        <a:bodyPr/>
        <a:lstStyle/>
        <a:p>
          <a:r>
            <a:rPr lang="en-US" b="1" dirty="0"/>
            <a:t>Socially-informed Cooperation</a:t>
          </a:r>
          <a:endParaRPr lang="en-US" dirty="0"/>
        </a:p>
      </dgm:t>
    </dgm:pt>
    <dgm:pt modelId="{7D411B2B-0A5A-436A-9B1A-41CC0E24EA36}" type="parTrans" cxnId="{62E53156-2298-4073-BD98-0957D7D6A444}">
      <dgm:prSet/>
      <dgm:spPr/>
      <dgm:t>
        <a:bodyPr/>
        <a:lstStyle/>
        <a:p>
          <a:endParaRPr lang="LID4096"/>
        </a:p>
      </dgm:t>
    </dgm:pt>
    <dgm:pt modelId="{67737163-9168-437F-A402-F0A4127B379E}" type="sibTrans" cxnId="{62E53156-2298-4073-BD98-0957D7D6A444}">
      <dgm:prSet/>
      <dgm:spPr/>
      <dgm:t>
        <a:bodyPr/>
        <a:lstStyle/>
        <a:p>
          <a:endParaRPr lang="LID4096"/>
        </a:p>
      </dgm:t>
    </dgm:pt>
    <dgm:pt modelId="{E5A31AC4-622E-4405-BD37-6E020744BFB6}" type="pres">
      <dgm:prSet presAssocID="{3A1E9DFC-7F3C-4E49-9595-709D40411265}" presName="vert0" presStyleCnt="0">
        <dgm:presLayoutVars>
          <dgm:dir/>
          <dgm:animOne val="branch"/>
          <dgm:animLvl val="lvl"/>
        </dgm:presLayoutVars>
      </dgm:prSet>
      <dgm:spPr/>
    </dgm:pt>
    <dgm:pt modelId="{10B580B9-722A-493A-9F7B-BDC3BE7FE4A5}" type="pres">
      <dgm:prSet presAssocID="{63C45FB5-DFBB-40FA-B4C8-8658496C196C}" presName="thickLine" presStyleLbl="alignNode1" presStyleIdx="0" presStyleCnt="7"/>
      <dgm:spPr/>
    </dgm:pt>
    <dgm:pt modelId="{17EA1A84-E8CC-444B-B9D8-D51DF5D370B4}" type="pres">
      <dgm:prSet presAssocID="{63C45FB5-DFBB-40FA-B4C8-8658496C196C}" presName="horz1" presStyleCnt="0"/>
      <dgm:spPr/>
    </dgm:pt>
    <dgm:pt modelId="{D11DA7A0-11BD-4423-A19B-D83E504FA958}" type="pres">
      <dgm:prSet presAssocID="{63C45FB5-DFBB-40FA-B4C8-8658496C196C}" presName="tx1" presStyleLbl="revTx" presStyleIdx="0" presStyleCnt="7"/>
      <dgm:spPr/>
    </dgm:pt>
    <dgm:pt modelId="{12554229-2633-41E7-BD0D-0DC900F722C4}" type="pres">
      <dgm:prSet presAssocID="{63C45FB5-DFBB-40FA-B4C8-8658496C196C}" presName="vert1" presStyleCnt="0"/>
      <dgm:spPr/>
    </dgm:pt>
    <dgm:pt modelId="{6A77F51E-AF7C-4B6A-A30A-1A62679E3B9B}" type="pres">
      <dgm:prSet presAssocID="{4575E56C-6AD6-4216-8A65-A1ECD8DB2B4C}" presName="thickLine" presStyleLbl="alignNode1" presStyleIdx="1" presStyleCnt="7"/>
      <dgm:spPr/>
    </dgm:pt>
    <dgm:pt modelId="{29C402A8-C95D-4522-9B4B-D401597E0CE7}" type="pres">
      <dgm:prSet presAssocID="{4575E56C-6AD6-4216-8A65-A1ECD8DB2B4C}" presName="horz1" presStyleCnt="0"/>
      <dgm:spPr/>
    </dgm:pt>
    <dgm:pt modelId="{05B62279-E4DB-44CE-B435-8E2C8941CFFC}" type="pres">
      <dgm:prSet presAssocID="{4575E56C-6AD6-4216-8A65-A1ECD8DB2B4C}" presName="tx1" presStyleLbl="revTx" presStyleIdx="1" presStyleCnt="7"/>
      <dgm:spPr/>
    </dgm:pt>
    <dgm:pt modelId="{BEBA9C48-5CE1-48C7-87B1-D453625C777D}" type="pres">
      <dgm:prSet presAssocID="{4575E56C-6AD6-4216-8A65-A1ECD8DB2B4C}" presName="vert1" presStyleCnt="0"/>
      <dgm:spPr/>
    </dgm:pt>
    <dgm:pt modelId="{1CCE70BA-9A6C-4D68-9D7D-EFF10CB938EC}" type="pres">
      <dgm:prSet presAssocID="{085072BE-CDE3-4CB7-AC54-3392788D4BED}" presName="thickLine" presStyleLbl="alignNode1" presStyleIdx="2" presStyleCnt="7"/>
      <dgm:spPr/>
    </dgm:pt>
    <dgm:pt modelId="{B8AEF206-C77B-4A38-84FE-6660B6AED005}" type="pres">
      <dgm:prSet presAssocID="{085072BE-CDE3-4CB7-AC54-3392788D4BED}" presName="horz1" presStyleCnt="0"/>
      <dgm:spPr/>
    </dgm:pt>
    <dgm:pt modelId="{1786E63D-29F0-4305-B98A-9237B87DC695}" type="pres">
      <dgm:prSet presAssocID="{085072BE-CDE3-4CB7-AC54-3392788D4BED}" presName="tx1" presStyleLbl="revTx" presStyleIdx="2" presStyleCnt="7"/>
      <dgm:spPr/>
    </dgm:pt>
    <dgm:pt modelId="{911B436D-EFA6-47C7-AD2F-FE63FE72BD09}" type="pres">
      <dgm:prSet presAssocID="{085072BE-CDE3-4CB7-AC54-3392788D4BED}" presName="vert1" presStyleCnt="0"/>
      <dgm:spPr/>
    </dgm:pt>
    <dgm:pt modelId="{E0678669-3450-4586-AB5A-CFFFF8B2AEBA}" type="pres">
      <dgm:prSet presAssocID="{7CDB1CE3-B5D9-412F-BE2A-E2535DFD90E3}" presName="thickLine" presStyleLbl="alignNode1" presStyleIdx="3" presStyleCnt="7"/>
      <dgm:spPr/>
    </dgm:pt>
    <dgm:pt modelId="{3382089E-099D-4F76-AE6A-7923BF0D647D}" type="pres">
      <dgm:prSet presAssocID="{7CDB1CE3-B5D9-412F-BE2A-E2535DFD90E3}" presName="horz1" presStyleCnt="0"/>
      <dgm:spPr/>
    </dgm:pt>
    <dgm:pt modelId="{F9B3DE0A-25A1-45F1-9018-17E0097A5108}" type="pres">
      <dgm:prSet presAssocID="{7CDB1CE3-B5D9-412F-BE2A-E2535DFD90E3}" presName="tx1" presStyleLbl="revTx" presStyleIdx="3" presStyleCnt="7"/>
      <dgm:spPr/>
    </dgm:pt>
    <dgm:pt modelId="{2FE4945B-B1CB-47EA-8584-8D7DD7A76D63}" type="pres">
      <dgm:prSet presAssocID="{7CDB1CE3-B5D9-412F-BE2A-E2535DFD90E3}" presName="vert1" presStyleCnt="0"/>
      <dgm:spPr/>
    </dgm:pt>
    <dgm:pt modelId="{6EF7803B-3DDA-44FB-8F41-3BE372F8BC05}" type="pres">
      <dgm:prSet presAssocID="{452C56E9-0FD9-49B8-9A8B-DB9BC7CE7AA3}" presName="thickLine" presStyleLbl="alignNode1" presStyleIdx="4" presStyleCnt="7"/>
      <dgm:spPr/>
    </dgm:pt>
    <dgm:pt modelId="{6DC325BE-5113-4602-83DE-1E95929DEC36}" type="pres">
      <dgm:prSet presAssocID="{452C56E9-0FD9-49B8-9A8B-DB9BC7CE7AA3}" presName="horz1" presStyleCnt="0"/>
      <dgm:spPr/>
    </dgm:pt>
    <dgm:pt modelId="{0C2F706A-34F5-46C4-AC22-DC770CCB7593}" type="pres">
      <dgm:prSet presAssocID="{452C56E9-0FD9-49B8-9A8B-DB9BC7CE7AA3}" presName="tx1" presStyleLbl="revTx" presStyleIdx="4" presStyleCnt="7"/>
      <dgm:spPr/>
    </dgm:pt>
    <dgm:pt modelId="{081D9AC2-42D8-4CD0-B23A-476FDBF52CF4}" type="pres">
      <dgm:prSet presAssocID="{452C56E9-0FD9-49B8-9A8B-DB9BC7CE7AA3}" presName="vert1" presStyleCnt="0"/>
      <dgm:spPr/>
    </dgm:pt>
    <dgm:pt modelId="{1FF4B2C7-947B-4E7D-A7E0-36C5CA82088D}" type="pres">
      <dgm:prSet presAssocID="{189266A0-FC95-4E30-9E46-838984DFA611}" presName="thickLine" presStyleLbl="alignNode1" presStyleIdx="5" presStyleCnt="7"/>
      <dgm:spPr/>
    </dgm:pt>
    <dgm:pt modelId="{8DEF439C-F35F-47D0-B167-FE5E690CE94A}" type="pres">
      <dgm:prSet presAssocID="{189266A0-FC95-4E30-9E46-838984DFA611}" presName="horz1" presStyleCnt="0"/>
      <dgm:spPr/>
    </dgm:pt>
    <dgm:pt modelId="{E0DEFD7D-1C71-4EAD-AD8D-B096A4B59AEC}" type="pres">
      <dgm:prSet presAssocID="{189266A0-FC95-4E30-9E46-838984DFA611}" presName="tx1" presStyleLbl="revTx" presStyleIdx="5" presStyleCnt="7"/>
      <dgm:spPr/>
    </dgm:pt>
    <dgm:pt modelId="{44252914-427F-41F0-A39B-2B9B291D8D23}" type="pres">
      <dgm:prSet presAssocID="{189266A0-FC95-4E30-9E46-838984DFA611}" presName="vert1" presStyleCnt="0"/>
      <dgm:spPr/>
    </dgm:pt>
    <dgm:pt modelId="{5329D5C8-97F6-498D-AFC4-5C0B5FD276DC}" type="pres">
      <dgm:prSet presAssocID="{7720EC0D-2147-4170-A8E1-FF7ACA7E1388}" presName="thickLine" presStyleLbl="alignNode1" presStyleIdx="6" presStyleCnt="7"/>
      <dgm:spPr/>
    </dgm:pt>
    <dgm:pt modelId="{B4DFBEF5-34D6-4C77-B148-1BF94E597CE5}" type="pres">
      <dgm:prSet presAssocID="{7720EC0D-2147-4170-A8E1-FF7ACA7E1388}" presName="horz1" presStyleCnt="0"/>
      <dgm:spPr/>
    </dgm:pt>
    <dgm:pt modelId="{8A7C4206-81B5-4E9C-A92A-1C30436B6201}" type="pres">
      <dgm:prSet presAssocID="{7720EC0D-2147-4170-A8E1-FF7ACA7E1388}" presName="tx1" presStyleLbl="revTx" presStyleIdx="6" presStyleCnt="7"/>
      <dgm:spPr/>
    </dgm:pt>
    <dgm:pt modelId="{B6529849-9DA3-4EE8-8E08-E3D35CE59FA9}" type="pres">
      <dgm:prSet presAssocID="{7720EC0D-2147-4170-A8E1-FF7ACA7E1388}" presName="vert1" presStyleCnt="0"/>
      <dgm:spPr/>
    </dgm:pt>
  </dgm:ptLst>
  <dgm:cxnLst>
    <dgm:cxn modelId="{8AFE8143-793B-415E-8F07-8C7C3B9C00ED}" type="presOf" srcId="{7CDB1CE3-B5D9-412F-BE2A-E2535DFD90E3}" destId="{F9B3DE0A-25A1-45F1-9018-17E0097A5108}" srcOrd="0" destOrd="0" presId="urn:microsoft.com/office/officeart/2008/layout/LinedList"/>
    <dgm:cxn modelId="{E5FE4945-C6B5-46BC-9D9B-12B8857F5003}" srcId="{3A1E9DFC-7F3C-4E49-9595-709D40411265}" destId="{452C56E9-0FD9-49B8-9A8B-DB9BC7CE7AA3}" srcOrd="4" destOrd="0" parTransId="{0E074AC6-975E-4C7E-8891-E4D93EAAA73C}" sibTransId="{54987729-4DCC-4E69-8685-D8DA3A62C5D2}"/>
    <dgm:cxn modelId="{B32BC546-A29F-4F28-9A1F-E0BA0C782E12}" type="presOf" srcId="{7720EC0D-2147-4170-A8E1-FF7ACA7E1388}" destId="{8A7C4206-81B5-4E9C-A92A-1C30436B6201}" srcOrd="0" destOrd="0" presId="urn:microsoft.com/office/officeart/2008/layout/LinedList"/>
    <dgm:cxn modelId="{55881E72-6BD1-4829-981E-654D59FD6403}" type="presOf" srcId="{452C56E9-0FD9-49B8-9A8B-DB9BC7CE7AA3}" destId="{0C2F706A-34F5-46C4-AC22-DC770CCB7593}" srcOrd="0" destOrd="0" presId="urn:microsoft.com/office/officeart/2008/layout/LinedList"/>
    <dgm:cxn modelId="{0CC84453-D029-4100-83E7-12F149845D26}" type="presOf" srcId="{63C45FB5-DFBB-40FA-B4C8-8658496C196C}" destId="{D11DA7A0-11BD-4423-A19B-D83E504FA958}" srcOrd="0" destOrd="0" presId="urn:microsoft.com/office/officeart/2008/layout/LinedList"/>
    <dgm:cxn modelId="{62E53156-2298-4073-BD98-0957D7D6A444}" srcId="{3A1E9DFC-7F3C-4E49-9595-709D40411265}" destId="{4575E56C-6AD6-4216-8A65-A1ECD8DB2B4C}" srcOrd="1" destOrd="0" parTransId="{7D411B2B-0A5A-436A-9B1A-41CC0E24EA36}" sibTransId="{67737163-9168-437F-A402-F0A4127B379E}"/>
    <dgm:cxn modelId="{D9478884-DFA8-438C-891A-63CEF5D512D8}" type="presOf" srcId="{189266A0-FC95-4E30-9E46-838984DFA611}" destId="{E0DEFD7D-1C71-4EAD-AD8D-B096A4B59AEC}" srcOrd="0" destOrd="0" presId="urn:microsoft.com/office/officeart/2008/layout/LinedList"/>
    <dgm:cxn modelId="{3C030796-8733-4CFB-B77C-4B18AE494F70}" srcId="{3A1E9DFC-7F3C-4E49-9595-709D40411265}" destId="{7720EC0D-2147-4170-A8E1-FF7ACA7E1388}" srcOrd="6" destOrd="0" parTransId="{DA2C64FB-E3FF-4661-89FF-33D0395BFFE0}" sibTransId="{DF741D83-4E01-47BE-9A15-7A8573A3F098}"/>
    <dgm:cxn modelId="{9C0BF2A0-29A2-49E2-9B9C-826220F6B5DF}" type="presOf" srcId="{085072BE-CDE3-4CB7-AC54-3392788D4BED}" destId="{1786E63D-29F0-4305-B98A-9237B87DC695}" srcOrd="0" destOrd="0" presId="urn:microsoft.com/office/officeart/2008/layout/LinedList"/>
    <dgm:cxn modelId="{207474A3-8F5A-4974-9D0F-D21971398811}" srcId="{3A1E9DFC-7F3C-4E49-9595-709D40411265}" destId="{7CDB1CE3-B5D9-412F-BE2A-E2535DFD90E3}" srcOrd="3" destOrd="0" parTransId="{49FC90B2-EEEE-4067-A41E-24601881EBCE}" sibTransId="{6F9F8E44-4E97-4A05-8E83-0F3083F139DC}"/>
    <dgm:cxn modelId="{2EBCAFA9-CCF6-4C73-A0BF-7357E5A6A390}" srcId="{3A1E9DFC-7F3C-4E49-9595-709D40411265}" destId="{63C45FB5-DFBB-40FA-B4C8-8658496C196C}" srcOrd="0" destOrd="0" parTransId="{C78CFE46-37D8-4E8F-B9BD-59095DD8BCC7}" sibTransId="{30C39E1C-8856-4266-BB1B-5625E16B683A}"/>
    <dgm:cxn modelId="{6CFDB1B6-68D8-4BAA-BC91-2371557A780A}" srcId="{3A1E9DFC-7F3C-4E49-9595-709D40411265}" destId="{189266A0-FC95-4E30-9E46-838984DFA611}" srcOrd="5" destOrd="0" parTransId="{C45A05AD-35A8-44FB-8A1C-FA94B177131E}" sibTransId="{AE998E22-833D-4F3F-BCEC-E75E92DB6FAA}"/>
    <dgm:cxn modelId="{CCCA9BDC-9E6F-47DC-985F-4AB3F96D6409}" type="presOf" srcId="{3A1E9DFC-7F3C-4E49-9595-709D40411265}" destId="{E5A31AC4-622E-4405-BD37-6E020744BFB6}" srcOrd="0" destOrd="0" presId="urn:microsoft.com/office/officeart/2008/layout/LinedList"/>
    <dgm:cxn modelId="{467DFAF8-0382-4723-89DA-E16EBFBAC763}" type="presOf" srcId="{4575E56C-6AD6-4216-8A65-A1ECD8DB2B4C}" destId="{05B62279-E4DB-44CE-B435-8E2C8941CFFC}" srcOrd="0" destOrd="0" presId="urn:microsoft.com/office/officeart/2008/layout/LinedList"/>
    <dgm:cxn modelId="{B594FAF8-CEFD-4EC3-8355-C8F8C91EBDD9}" srcId="{3A1E9DFC-7F3C-4E49-9595-709D40411265}" destId="{085072BE-CDE3-4CB7-AC54-3392788D4BED}" srcOrd="2" destOrd="0" parTransId="{9FE97E85-C15B-45D2-9D6F-C50FA43EA384}" sibTransId="{B558F9AD-445F-4D64-BFAD-CEE6AA0F4688}"/>
    <dgm:cxn modelId="{4AD75E6D-2EEF-4EE3-B0A3-FE3B3F89C716}" type="presParOf" srcId="{E5A31AC4-622E-4405-BD37-6E020744BFB6}" destId="{10B580B9-722A-493A-9F7B-BDC3BE7FE4A5}" srcOrd="0" destOrd="0" presId="urn:microsoft.com/office/officeart/2008/layout/LinedList"/>
    <dgm:cxn modelId="{2DE4B553-2BDF-4B6B-806F-67F5995F8BF1}" type="presParOf" srcId="{E5A31AC4-622E-4405-BD37-6E020744BFB6}" destId="{17EA1A84-E8CC-444B-B9D8-D51DF5D370B4}" srcOrd="1" destOrd="0" presId="urn:microsoft.com/office/officeart/2008/layout/LinedList"/>
    <dgm:cxn modelId="{F9B3A5A6-C335-426D-927C-91ED8046BD2D}" type="presParOf" srcId="{17EA1A84-E8CC-444B-B9D8-D51DF5D370B4}" destId="{D11DA7A0-11BD-4423-A19B-D83E504FA958}" srcOrd="0" destOrd="0" presId="urn:microsoft.com/office/officeart/2008/layout/LinedList"/>
    <dgm:cxn modelId="{79D0B7D7-76AA-40F6-8466-0472EC5B42D0}" type="presParOf" srcId="{17EA1A84-E8CC-444B-B9D8-D51DF5D370B4}" destId="{12554229-2633-41E7-BD0D-0DC900F722C4}" srcOrd="1" destOrd="0" presId="urn:microsoft.com/office/officeart/2008/layout/LinedList"/>
    <dgm:cxn modelId="{49DA1E9E-E4EF-43B2-9F6C-91E4AD11B0D2}" type="presParOf" srcId="{E5A31AC4-622E-4405-BD37-6E020744BFB6}" destId="{6A77F51E-AF7C-4B6A-A30A-1A62679E3B9B}" srcOrd="2" destOrd="0" presId="urn:microsoft.com/office/officeart/2008/layout/LinedList"/>
    <dgm:cxn modelId="{3500E7EB-30C5-49C0-947E-6BE4794EB0EE}" type="presParOf" srcId="{E5A31AC4-622E-4405-BD37-6E020744BFB6}" destId="{29C402A8-C95D-4522-9B4B-D401597E0CE7}" srcOrd="3" destOrd="0" presId="urn:microsoft.com/office/officeart/2008/layout/LinedList"/>
    <dgm:cxn modelId="{90889449-D95B-4559-BDA4-332284BE9285}" type="presParOf" srcId="{29C402A8-C95D-4522-9B4B-D401597E0CE7}" destId="{05B62279-E4DB-44CE-B435-8E2C8941CFFC}" srcOrd="0" destOrd="0" presId="urn:microsoft.com/office/officeart/2008/layout/LinedList"/>
    <dgm:cxn modelId="{DF120537-FA3D-4AFA-93A9-F0D071775072}" type="presParOf" srcId="{29C402A8-C95D-4522-9B4B-D401597E0CE7}" destId="{BEBA9C48-5CE1-48C7-87B1-D453625C777D}" srcOrd="1" destOrd="0" presId="urn:microsoft.com/office/officeart/2008/layout/LinedList"/>
    <dgm:cxn modelId="{2A395270-EBE1-4A25-85F6-9FE1FB2F9E66}" type="presParOf" srcId="{E5A31AC4-622E-4405-BD37-6E020744BFB6}" destId="{1CCE70BA-9A6C-4D68-9D7D-EFF10CB938EC}" srcOrd="4" destOrd="0" presId="urn:microsoft.com/office/officeart/2008/layout/LinedList"/>
    <dgm:cxn modelId="{55B69DBE-B995-42A8-83F2-CA2823372EA9}" type="presParOf" srcId="{E5A31AC4-622E-4405-BD37-6E020744BFB6}" destId="{B8AEF206-C77B-4A38-84FE-6660B6AED005}" srcOrd="5" destOrd="0" presId="urn:microsoft.com/office/officeart/2008/layout/LinedList"/>
    <dgm:cxn modelId="{7DCE4C16-1964-4C8A-87FB-93224DFFC77E}" type="presParOf" srcId="{B8AEF206-C77B-4A38-84FE-6660B6AED005}" destId="{1786E63D-29F0-4305-B98A-9237B87DC695}" srcOrd="0" destOrd="0" presId="urn:microsoft.com/office/officeart/2008/layout/LinedList"/>
    <dgm:cxn modelId="{C7805F7B-4C19-4F2C-A08B-F4F83C359E4D}" type="presParOf" srcId="{B8AEF206-C77B-4A38-84FE-6660B6AED005}" destId="{911B436D-EFA6-47C7-AD2F-FE63FE72BD09}" srcOrd="1" destOrd="0" presId="urn:microsoft.com/office/officeart/2008/layout/LinedList"/>
    <dgm:cxn modelId="{3F8A2B84-C9C0-4A15-95D9-F35B8281DB90}" type="presParOf" srcId="{E5A31AC4-622E-4405-BD37-6E020744BFB6}" destId="{E0678669-3450-4586-AB5A-CFFFF8B2AEBA}" srcOrd="6" destOrd="0" presId="urn:microsoft.com/office/officeart/2008/layout/LinedList"/>
    <dgm:cxn modelId="{339D149B-D038-4F53-A0ED-360140D4AF3D}" type="presParOf" srcId="{E5A31AC4-622E-4405-BD37-6E020744BFB6}" destId="{3382089E-099D-4F76-AE6A-7923BF0D647D}" srcOrd="7" destOrd="0" presId="urn:microsoft.com/office/officeart/2008/layout/LinedList"/>
    <dgm:cxn modelId="{E529B9A3-D8AF-4940-BD67-BE5596E8C0EC}" type="presParOf" srcId="{3382089E-099D-4F76-AE6A-7923BF0D647D}" destId="{F9B3DE0A-25A1-45F1-9018-17E0097A5108}" srcOrd="0" destOrd="0" presId="urn:microsoft.com/office/officeart/2008/layout/LinedList"/>
    <dgm:cxn modelId="{12F8B78E-A2B8-48F8-80BA-59CD54F02FE1}" type="presParOf" srcId="{3382089E-099D-4F76-AE6A-7923BF0D647D}" destId="{2FE4945B-B1CB-47EA-8584-8D7DD7A76D63}" srcOrd="1" destOrd="0" presId="urn:microsoft.com/office/officeart/2008/layout/LinedList"/>
    <dgm:cxn modelId="{C6F1A1B0-D1DF-4B28-BE54-6B6145CE551D}" type="presParOf" srcId="{E5A31AC4-622E-4405-BD37-6E020744BFB6}" destId="{6EF7803B-3DDA-44FB-8F41-3BE372F8BC05}" srcOrd="8" destOrd="0" presId="urn:microsoft.com/office/officeart/2008/layout/LinedList"/>
    <dgm:cxn modelId="{50FE47C9-1B06-4725-BD1D-EF3CF4D5003A}" type="presParOf" srcId="{E5A31AC4-622E-4405-BD37-6E020744BFB6}" destId="{6DC325BE-5113-4602-83DE-1E95929DEC36}" srcOrd="9" destOrd="0" presId="urn:microsoft.com/office/officeart/2008/layout/LinedList"/>
    <dgm:cxn modelId="{EB2D4B6C-E8D6-4537-8AD2-651D7D956B38}" type="presParOf" srcId="{6DC325BE-5113-4602-83DE-1E95929DEC36}" destId="{0C2F706A-34F5-46C4-AC22-DC770CCB7593}" srcOrd="0" destOrd="0" presId="urn:microsoft.com/office/officeart/2008/layout/LinedList"/>
    <dgm:cxn modelId="{626F3E10-78C1-4A34-9601-810AAD22003E}" type="presParOf" srcId="{6DC325BE-5113-4602-83DE-1E95929DEC36}" destId="{081D9AC2-42D8-4CD0-B23A-476FDBF52CF4}" srcOrd="1" destOrd="0" presId="urn:microsoft.com/office/officeart/2008/layout/LinedList"/>
    <dgm:cxn modelId="{62BDC716-D33D-472F-97BC-07A254113DAE}" type="presParOf" srcId="{E5A31AC4-622E-4405-BD37-6E020744BFB6}" destId="{1FF4B2C7-947B-4E7D-A7E0-36C5CA82088D}" srcOrd="10" destOrd="0" presId="urn:microsoft.com/office/officeart/2008/layout/LinedList"/>
    <dgm:cxn modelId="{926A03B7-503E-4542-B753-8C481BCEDDBF}" type="presParOf" srcId="{E5A31AC4-622E-4405-BD37-6E020744BFB6}" destId="{8DEF439C-F35F-47D0-B167-FE5E690CE94A}" srcOrd="11" destOrd="0" presId="urn:microsoft.com/office/officeart/2008/layout/LinedList"/>
    <dgm:cxn modelId="{0A0255B2-082F-4F04-9A17-99B765C5DB1D}" type="presParOf" srcId="{8DEF439C-F35F-47D0-B167-FE5E690CE94A}" destId="{E0DEFD7D-1C71-4EAD-AD8D-B096A4B59AEC}" srcOrd="0" destOrd="0" presId="urn:microsoft.com/office/officeart/2008/layout/LinedList"/>
    <dgm:cxn modelId="{996F8E30-E2FA-45CA-8FDD-72DE6D53FCC4}" type="presParOf" srcId="{8DEF439C-F35F-47D0-B167-FE5E690CE94A}" destId="{44252914-427F-41F0-A39B-2B9B291D8D23}" srcOrd="1" destOrd="0" presId="urn:microsoft.com/office/officeart/2008/layout/LinedList"/>
    <dgm:cxn modelId="{0582268A-8455-4BA7-A54B-6AEE3623C5C6}" type="presParOf" srcId="{E5A31AC4-622E-4405-BD37-6E020744BFB6}" destId="{5329D5C8-97F6-498D-AFC4-5C0B5FD276DC}" srcOrd="12" destOrd="0" presId="urn:microsoft.com/office/officeart/2008/layout/LinedList"/>
    <dgm:cxn modelId="{A7881550-1625-469A-8965-C62EE8EC8EA8}" type="presParOf" srcId="{E5A31AC4-622E-4405-BD37-6E020744BFB6}" destId="{B4DFBEF5-34D6-4C77-B148-1BF94E597CE5}" srcOrd="13" destOrd="0" presId="urn:microsoft.com/office/officeart/2008/layout/LinedList"/>
    <dgm:cxn modelId="{14CAE19F-2E84-4EFF-896C-969ED27A86D3}" type="presParOf" srcId="{B4DFBEF5-34D6-4C77-B148-1BF94E597CE5}" destId="{8A7C4206-81B5-4E9C-A92A-1C30436B6201}" srcOrd="0" destOrd="0" presId="urn:microsoft.com/office/officeart/2008/layout/LinedList"/>
    <dgm:cxn modelId="{A6E9D562-68E3-41EA-87F6-C436BC114A07}" type="presParOf" srcId="{B4DFBEF5-34D6-4C77-B148-1BF94E597CE5}" destId="{B6529849-9DA3-4EE8-8E08-E3D35CE59FA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B91D90-4B57-40E3-8BD7-5572760D940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CB5C61-0C13-4696-8058-A3641AF3D157}">
      <dgm:prSet/>
      <dgm:spPr/>
      <dgm:t>
        <a:bodyPr/>
        <a:lstStyle/>
        <a:p>
          <a:r>
            <a:rPr lang="en-US"/>
            <a:t>Human vs. LLM Interactions</a:t>
          </a:r>
        </a:p>
      </dgm:t>
    </dgm:pt>
    <dgm:pt modelId="{7E0FCE59-19BD-45F3-84DD-A8B1D3CF065F}" type="parTrans" cxnId="{81F038E2-0F22-4564-B24B-743E0D2845D6}">
      <dgm:prSet/>
      <dgm:spPr/>
      <dgm:t>
        <a:bodyPr/>
        <a:lstStyle/>
        <a:p>
          <a:endParaRPr lang="en-US"/>
        </a:p>
      </dgm:t>
    </dgm:pt>
    <dgm:pt modelId="{6525EF81-84DB-4368-818D-1023BD232944}" type="sibTrans" cxnId="{81F038E2-0F22-4564-B24B-743E0D2845D6}">
      <dgm:prSet/>
      <dgm:spPr/>
      <dgm:t>
        <a:bodyPr/>
        <a:lstStyle/>
        <a:p>
          <a:endParaRPr lang="en-US"/>
        </a:p>
      </dgm:t>
    </dgm:pt>
    <dgm:pt modelId="{80B335CF-D2E9-48AD-AD32-2D984245AFAD}">
      <dgm:prSet/>
      <dgm:spPr/>
      <dgm:t>
        <a:bodyPr/>
        <a:lstStyle/>
        <a:p>
          <a:r>
            <a:rPr lang="en-US"/>
            <a:t>Multi-agent and Multi-round Games with Communication</a:t>
          </a:r>
        </a:p>
      </dgm:t>
    </dgm:pt>
    <dgm:pt modelId="{0EFFA8AD-8075-4F62-A366-182DAA283CED}" type="parTrans" cxnId="{0BE8E7E9-FBA7-4F09-92CD-855116636A79}">
      <dgm:prSet/>
      <dgm:spPr/>
      <dgm:t>
        <a:bodyPr/>
        <a:lstStyle/>
        <a:p>
          <a:endParaRPr lang="en-US"/>
        </a:p>
      </dgm:t>
    </dgm:pt>
    <dgm:pt modelId="{445D202D-C2DD-40FA-9E65-AFEB82D89FA1}" type="sibTrans" cxnId="{0BE8E7E9-FBA7-4F09-92CD-855116636A79}">
      <dgm:prSet/>
      <dgm:spPr/>
      <dgm:t>
        <a:bodyPr/>
        <a:lstStyle/>
        <a:p>
          <a:endParaRPr lang="en-US"/>
        </a:p>
      </dgm:t>
    </dgm:pt>
    <dgm:pt modelId="{B055700B-9721-4DE5-B5E5-41198ABBFC6F}">
      <dgm:prSet/>
      <dgm:spPr/>
      <dgm:t>
        <a:bodyPr/>
        <a:lstStyle/>
        <a:p>
          <a:r>
            <a:rPr lang="en-US"/>
            <a:t>Scaling Behavioral Traits with Model Size</a:t>
          </a:r>
        </a:p>
      </dgm:t>
    </dgm:pt>
    <dgm:pt modelId="{CEB98B2E-EE1B-4EFE-A609-11BD0E180DF2}" type="parTrans" cxnId="{9F57676E-178F-4D58-969F-B689BBCE439B}">
      <dgm:prSet/>
      <dgm:spPr/>
      <dgm:t>
        <a:bodyPr/>
        <a:lstStyle/>
        <a:p>
          <a:endParaRPr lang="en-US"/>
        </a:p>
      </dgm:t>
    </dgm:pt>
    <dgm:pt modelId="{757B79C4-FCC9-44E1-952A-D799D20595AF}" type="sibTrans" cxnId="{9F57676E-178F-4D58-969F-B689BBCE439B}">
      <dgm:prSet/>
      <dgm:spPr/>
      <dgm:t>
        <a:bodyPr/>
        <a:lstStyle/>
        <a:p>
          <a:endParaRPr lang="en-US"/>
        </a:p>
      </dgm:t>
    </dgm:pt>
    <dgm:pt modelId="{625EAD53-6243-452D-922D-BC72B97BB0B5}">
      <dgm:prSet/>
      <dgm:spPr/>
      <dgm:t>
        <a:bodyPr/>
        <a:lstStyle/>
        <a:p>
          <a:r>
            <a:rPr lang="en-US"/>
            <a:t>Longer Games and Memory Integration</a:t>
          </a:r>
        </a:p>
      </dgm:t>
    </dgm:pt>
    <dgm:pt modelId="{5437856B-88A4-4974-A4C9-2698DA7BD5FB}" type="parTrans" cxnId="{F87B889F-D7C5-4512-961E-F82B1B9AED05}">
      <dgm:prSet/>
      <dgm:spPr/>
      <dgm:t>
        <a:bodyPr/>
        <a:lstStyle/>
        <a:p>
          <a:endParaRPr lang="en-US"/>
        </a:p>
      </dgm:t>
    </dgm:pt>
    <dgm:pt modelId="{144A3996-C5ED-447D-B879-F53B4D58254E}" type="sibTrans" cxnId="{F87B889F-D7C5-4512-961E-F82B1B9AED05}">
      <dgm:prSet/>
      <dgm:spPr/>
      <dgm:t>
        <a:bodyPr/>
        <a:lstStyle/>
        <a:p>
          <a:endParaRPr lang="en-US"/>
        </a:p>
      </dgm:t>
    </dgm:pt>
    <dgm:pt modelId="{35BE14F6-2732-4CEA-A62D-12EA6926A35F}">
      <dgm:prSet/>
      <dgm:spPr/>
      <dgm:t>
        <a:bodyPr/>
        <a:lstStyle/>
        <a:p>
          <a:r>
            <a:rPr lang="en-US" dirty="0"/>
            <a:t>Formalizing Benchmarks for Rationality in LLMs</a:t>
          </a:r>
        </a:p>
      </dgm:t>
    </dgm:pt>
    <dgm:pt modelId="{A8FA70FC-C58E-4DBF-84E0-D1E93CF95AB7}" type="parTrans" cxnId="{8236DF13-0D47-4E8D-A008-114BE8FCCADA}">
      <dgm:prSet/>
      <dgm:spPr/>
      <dgm:t>
        <a:bodyPr/>
        <a:lstStyle/>
        <a:p>
          <a:endParaRPr lang="en-US"/>
        </a:p>
      </dgm:t>
    </dgm:pt>
    <dgm:pt modelId="{B209BABB-6318-45EC-86CE-65509D843ED4}" type="sibTrans" cxnId="{8236DF13-0D47-4E8D-A008-114BE8FCCADA}">
      <dgm:prSet/>
      <dgm:spPr/>
      <dgm:t>
        <a:bodyPr/>
        <a:lstStyle/>
        <a:p>
          <a:endParaRPr lang="en-US"/>
        </a:p>
      </dgm:t>
    </dgm:pt>
    <dgm:pt modelId="{6A6A727B-CAC7-4AA0-91A6-1AADF4165708}" type="pres">
      <dgm:prSet presAssocID="{59B91D90-4B57-40E3-8BD7-5572760D9402}" presName="vert0" presStyleCnt="0">
        <dgm:presLayoutVars>
          <dgm:dir/>
          <dgm:animOne val="branch"/>
          <dgm:animLvl val="lvl"/>
        </dgm:presLayoutVars>
      </dgm:prSet>
      <dgm:spPr/>
    </dgm:pt>
    <dgm:pt modelId="{395725B9-CDA7-43C9-BF2E-ACCE4E378F62}" type="pres">
      <dgm:prSet presAssocID="{F2CB5C61-0C13-4696-8058-A3641AF3D157}" presName="thickLine" presStyleLbl="alignNode1" presStyleIdx="0" presStyleCnt="5"/>
      <dgm:spPr/>
    </dgm:pt>
    <dgm:pt modelId="{BC337ACE-B299-4302-914B-6F09B9A496B5}" type="pres">
      <dgm:prSet presAssocID="{F2CB5C61-0C13-4696-8058-A3641AF3D157}" presName="horz1" presStyleCnt="0"/>
      <dgm:spPr/>
    </dgm:pt>
    <dgm:pt modelId="{CF8F8FEA-8795-4A68-8D1A-902BCAB8BE0A}" type="pres">
      <dgm:prSet presAssocID="{F2CB5C61-0C13-4696-8058-A3641AF3D157}" presName="tx1" presStyleLbl="revTx" presStyleIdx="0" presStyleCnt="5"/>
      <dgm:spPr/>
    </dgm:pt>
    <dgm:pt modelId="{C3368839-D3B8-4E1B-ABDF-D4DCF7DC50AA}" type="pres">
      <dgm:prSet presAssocID="{F2CB5C61-0C13-4696-8058-A3641AF3D157}" presName="vert1" presStyleCnt="0"/>
      <dgm:spPr/>
    </dgm:pt>
    <dgm:pt modelId="{E5B4EC98-909D-43D4-89E9-611D37FA64B6}" type="pres">
      <dgm:prSet presAssocID="{80B335CF-D2E9-48AD-AD32-2D984245AFAD}" presName="thickLine" presStyleLbl="alignNode1" presStyleIdx="1" presStyleCnt="5"/>
      <dgm:spPr/>
    </dgm:pt>
    <dgm:pt modelId="{E0C865A6-B13B-490A-A022-74702B9173FE}" type="pres">
      <dgm:prSet presAssocID="{80B335CF-D2E9-48AD-AD32-2D984245AFAD}" presName="horz1" presStyleCnt="0"/>
      <dgm:spPr/>
    </dgm:pt>
    <dgm:pt modelId="{F39E518A-4F9E-48CD-ABFD-EBEB17F992F2}" type="pres">
      <dgm:prSet presAssocID="{80B335CF-D2E9-48AD-AD32-2D984245AFAD}" presName="tx1" presStyleLbl="revTx" presStyleIdx="1" presStyleCnt="5"/>
      <dgm:spPr/>
    </dgm:pt>
    <dgm:pt modelId="{DC809941-48BD-4021-B990-15AEDE44222D}" type="pres">
      <dgm:prSet presAssocID="{80B335CF-D2E9-48AD-AD32-2D984245AFAD}" presName="vert1" presStyleCnt="0"/>
      <dgm:spPr/>
    </dgm:pt>
    <dgm:pt modelId="{AC7EAE78-AB98-4B9D-8AD8-D565ABDEACB1}" type="pres">
      <dgm:prSet presAssocID="{B055700B-9721-4DE5-B5E5-41198ABBFC6F}" presName="thickLine" presStyleLbl="alignNode1" presStyleIdx="2" presStyleCnt="5"/>
      <dgm:spPr/>
    </dgm:pt>
    <dgm:pt modelId="{B3DFBBB6-5C68-4DAE-8130-5FAD39C3D85A}" type="pres">
      <dgm:prSet presAssocID="{B055700B-9721-4DE5-B5E5-41198ABBFC6F}" presName="horz1" presStyleCnt="0"/>
      <dgm:spPr/>
    </dgm:pt>
    <dgm:pt modelId="{8B763387-E2B4-402F-BDA5-988D7E4F8C43}" type="pres">
      <dgm:prSet presAssocID="{B055700B-9721-4DE5-B5E5-41198ABBFC6F}" presName="tx1" presStyleLbl="revTx" presStyleIdx="2" presStyleCnt="5"/>
      <dgm:spPr/>
    </dgm:pt>
    <dgm:pt modelId="{91ACCE5B-F054-4498-AAD3-A1A2D17234E5}" type="pres">
      <dgm:prSet presAssocID="{B055700B-9721-4DE5-B5E5-41198ABBFC6F}" presName="vert1" presStyleCnt="0"/>
      <dgm:spPr/>
    </dgm:pt>
    <dgm:pt modelId="{AC8A202E-A1B7-4335-BADA-4BE469B833E6}" type="pres">
      <dgm:prSet presAssocID="{625EAD53-6243-452D-922D-BC72B97BB0B5}" presName="thickLine" presStyleLbl="alignNode1" presStyleIdx="3" presStyleCnt="5"/>
      <dgm:spPr/>
    </dgm:pt>
    <dgm:pt modelId="{B9969CBD-9C0D-40A1-9A97-FF9558BB75AE}" type="pres">
      <dgm:prSet presAssocID="{625EAD53-6243-452D-922D-BC72B97BB0B5}" presName="horz1" presStyleCnt="0"/>
      <dgm:spPr/>
    </dgm:pt>
    <dgm:pt modelId="{62DC7607-197C-4E2C-A880-58323A37C952}" type="pres">
      <dgm:prSet presAssocID="{625EAD53-6243-452D-922D-BC72B97BB0B5}" presName="tx1" presStyleLbl="revTx" presStyleIdx="3" presStyleCnt="5"/>
      <dgm:spPr/>
    </dgm:pt>
    <dgm:pt modelId="{CE66DB65-629E-4A62-A62E-A60F226C1862}" type="pres">
      <dgm:prSet presAssocID="{625EAD53-6243-452D-922D-BC72B97BB0B5}" presName="vert1" presStyleCnt="0"/>
      <dgm:spPr/>
    </dgm:pt>
    <dgm:pt modelId="{266E7D0D-7C67-499C-852F-7CEF2CC3CD5F}" type="pres">
      <dgm:prSet presAssocID="{35BE14F6-2732-4CEA-A62D-12EA6926A35F}" presName="thickLine" presStyleLbl="alignNode1" presStyleIdx="4" presStyleCnt="5"/>
      <dgm:spPr/>
    </dgm:pt>
    <dgm:pt modelId="{8A4EBFA6-1CB7-4659-866E-723E2FAB9DF3}" type="pres">
      <dgm:prSet presAssocID="{35BE14F6-2732-4CEA-A62D-12EA6926A35F}" presName="horz1" presStyleCnt="0"/>
      <dgm:spPr/>
    </dgm:pt>
    <dgm:pt modelId="{0947AF23-B40A-4434-9824-960D4AA487DE}" type="pres">
      <dgm:prSet presAssocID="{35BE14F6-2732-4CEA-A62D-12EA6926A35F}" presName="tx1" presStyleLbl="revTx" presStyleIdx="4" presStyleCnt="5"/>
      <dgm:spPr/>
    </dgm:pt>
    <dgm:pt modelId="{70A2C5E1-98E4-4793-B976-D5D233D95473}" type="pres">
      <dgm:prSet presAssocID="{35BE14F6-2732-4CEA-A62D-12EA6926A35F}" presName="vert1" presStyleCnt="0"/>
      <dgm:spPr/>
    </dgm:pt>
  </dgm:ptLst>
  <dgm:cxnLst>
    <dgm:cxn modelId="{A21FCB02-FD08-4667-90B1-430F24684F42}" type="presOf" srcId="{625EAD53-6243-452D-922D-BC72B97BB0B5}" destId="{62DC7607-197C-4E2C-A880-58323A37C952}" srcOrd="0" destOrd="0" presId="urn:microsoft.com/office/officeart/2008/layout/LinedList"/>
    <dgm:cxn modelId="{8236DF13-0D47-4E8D-A008-114BE8FCCADA}" srcId="{59B91D90-4B57-40E3-8BD7-5572760D9402}" destId="{35BE14F6-2732-4CEA-A62D-12EA6926A35F}" srcOrd="4" destOrd="0" parTransId="{A8FA70FC-C58E-4DBF-84E0-D1E93CF95AB7}" sibTransId="{B209BABB-6318-45EC-86CE-65509D843ED4}"/>
    <dgm:cxn modelId="{56A2BD39-2FF7-4B9B-AA0D-7F915ADC9748}" type="presOf" srcId="{35BE14F6-2732-4CEA-A62D-12EA6926A35F}" destId="{0947AF23-B40A-4434-9824-960D4AA487DE}" srcOrd="0" destOrd="0" presId="urn:microsoft.com/office/officeart/2008/layout/LinedList"/>
    <dgm:cxn modelId="{3103EE3D-BA54-416F-A8DD-6D5C8BC7AF55}" type="presOf" srcId="{F2CB5C61-0C13-4696-8058-A3641AF3D157}" destId="{CF8F8FEA-8795-4A68-8D1A-902BCAB8BE0A}" srcOrd="0" destOrd="0" presId="urn:microsoft.com/office/officeart/2008/layout/LinedList"/>
    <dgm:cxn modelId="{9F57676E-178F-4D58-969F-B689BBCE439B}" srcId="{59B91D90-4B57-40E3-8BD7-5572760D9402}" destId="{B055700B-9721-4DE5-B5E5-41198ABBFC6F}" srcOrd="2" destOrd="0" parTransId="{CEB98B2E-EE1B-4EFE-A609-11BD0E180DF2}" sibTransId="{757B79C4-FCC9-44E1-952A-D799D20595AF}"/>
    <dgm:cxn modelId="{212D4F71-15DC-42C1-82E9-0370D9445110}" type="presOf" srcId="{59B91D90-4B57-40E3-8BD7-5572760D9402}" destId="{6A6A727B-CAC7-4AA0-91A6-1AADF4165708}" srcOrd="0" destOrd="0" presId="urn:microsoft.com/office/officeart/2008/layout/LinedList"/>
    <dgm:cxn modelId="{F87B889F-D7C5-4512-961E-F82B1B9AED05}" srcId="{59B91D90-4B57-40E3-8BD7-5572760D9402}" destId="{625EAD53-6243-452D-922D-BC72B97BB0B5}" srcOrd="3" destOrd="0" parTransId="{5437856B-88A4-4974-A4C9-2698DA7BD5FB}" sibTransId="{144A3996-C5ED-447D-B879-F53B4D58254E}"/>
    <dgm:cxn modelId="{BFB402A1-2B6D-4DA6-9659-20EC7A7CD6A4}" type="presOf" srcId="{B055700B-9721-4DE5-B5E5-41198ABBFC6F}" destId="{8B763387-E2B4-402F-BDA5-988D7E4F8C43}" srcOrd="0" destOrd="0" presId="urn:microsoft.com/office/officeart/2008/layout/LinedList"/>
    <dgm:cxn modelId="{F9622AD7-48EA-4F28-8C7B-B3AB83F44860}" type="presOf" srcId="{80B335CF-D2E9-48AD-AD32-2D984245AFAD}" destId="{F39E518A-4F9E-48CD-ABFD-EBEB17F992F2}" srcOrd="0" destOrd="0" presId="urn:microsoft.com/office/officeart/2008/layout/LinedList"/>
    <dgm:cxn modelId="{81F038E2-0F22-4564-B24B-743E0D2845D6}" srcId="{59B91D90-4B57-40E3-8BD7-5572760D9402}" destId="{F2CB5C61-0C13-4696-8058-A3641AF3D157}" srcOrd="0" destOrd="0" parTransId="{7E0FCE59-19BD-45F3-84DD-A8B1D3CF065F}" sibTransId="{6525EF81-84DB-4368-818D-1023BD232944}"/>
    <dgm:cxn modelId="{0BE8E7E9-FBA7-4F09-92CD-855116636A79}" srcId="{59B91D90-4B57-40E3-8BD7-5572760D9402}" destId="{80B335CF-D2E9-48AD-AD32-2D984245AFAD}" srcOrd="1" destOrd="0" parTransId="{0EFFA8AD-8075-4F62-A366-182DAA283CED}" sibTransId="{445D202D-C2DD-40FA-9E65-AFEB82D89FA1}"/>
    <dgm:cxn modelId="{60CA45D9-4753-4E13-9D66-3E5A9C40BB32}" type="presParOf" srcId="{6A6A727B-CAC7-4AA0-91A6-1AADF4165708}" destId="{395725B9-CDA7-43C9-BF2E-ACCE4E378F62}" srcOrd="0" destOrd="0" presId="urn:microsoft.com/office/officeart/2008/layout/LinedList"/>
    <dgm:cxn modelId="{C9AFE0D3-6E47-457C-AE05-0C643292D480}" type="presParOf" srcId="{6A6A727B-CAC7-4AA0-91A6-1AADF4165708}" destId="{BC337ACE-B299-4302-914B-6F09B9A496B5}" srcOrd="1" destOrd="0" presId="urn:microsoft.com/office/officeart/2008/layout/LinedList"/>
    <dgm:cxn modelId="{D37E082F-5DED-423A-9403-6CAF1E835380}" type="presParOf" srcId="{BC337ACE-B299-4302-914B-6F09B9A496B5}" destId="{CF8F8FEA-8795-4A68-8D1A-902BCAB8BE0A}" srcOrd="0" destOrd="0" presId="urn:microsoft.com/office/officeart/2008/layout/LinedList"/>
    <dgm:cxn modelId="{8CD49E44-3E3C-401C-BE39-C485A1E81694}" type="presParOf" srcId="{BC337ACE-B299-4302-914B-6F09B9A496B5}" destId="{C3368839-D3B8-4E1B-ABDF-D4DCF7DC50AA}" srcOrd="1" destOrd="0" presId="urn:microsoft.com/office/officeart/2008/layout/LinedList"/>
    <dgm:cxn modelId="{B6295C1E-7258-4EBD-8B78-5899330B6E93}" type="presParOf" srcId="{6A6A727B-CAC7-4AA0-91A6-1AADF4165708}" destId="{E5B4EC98-909D-43D4-89E9-611D37FA64B6}" srcOrd="2" destOrd="0" presId="urn:microsoft.com/office/officeart/2008/layout/LinedList"/>
    <dgm:cxn modelId="{4A97337A-3A2B-4BF3-A546-F0B9EE18E645}" type="presParOf" srcId="{6A6A727B-CAC7-4AA0-91A6-1AADF4165708}" destId="{E0C865A6-B13B-490A-A022-74702B9173FE}" srcOrd="3" destOrd="0" presId="urn:microsoft.com/office/officeart/2008/layout/LinedList"/>
    <dgm:cxn modelId="{30958F3C-76BB-4949-99B4-8352817E216F}" type="presParOf" srcId="{E0C865A6-B13B-490A-A022-74702B9173FE}" destId="{F39E518A-4F9E-48CD-ABFD-EBEB17F992F2}" srcOrd="0" destOrd="0" presId="urn:microsoft.com/office/officeart/2008/layout/LinedList"/>
    <dgm:cxn modelId="{B417D929-A050-455A-9B27-D235638191DA}" type="presParOf" srcId="{E0C865A6-B13B-490A-A022-74702B9173FE}" destId="{DC809941-48BD-4021-B990-15AEDE44222D}" srcOrd="1" destOrd="0" presId="urn:microsoft.com/office/officeart/2008/layout/LinedList"/>
    <dgm:cxn modelId="{F6AA6932-0851-4429-A9A6-751D602821CA}" type="presParOf" srcId="{6A6A727B-CAC7-4AA0-91A6-1AADF4165708}" destId="{AC7EAE78-AB98-4B9D-8AD8-D565ABDEACB1}" srcOrd="4" destOrd="0" presId="urn:microsoft.com/office/officeart/2008/layout/LinedList"/>
    <dgm:cxn modelId="{AC27E7E9-A09F-4D27-9D5D-BB766AD4175C}" type="presParOf" srcId="{6A6A727B-CAC7-4AA0-91A6-1AADF4165708}" destId="{B3DFBBB6-5C68-4DAE-8130-5FAD39C3D85A}" srcOrd="5" destOrd="0" presId="urn:microsoft.com/office/officeart/2008/layout/LinedList"/>
    <dgm:cxn modelId="{1F108BC0-9892-402C-9F39-B2CCCE4D03BC}" type="presParOf" srcId="{B3DFBBB6-5C68-4DAE-8130-5FAD39C3D85A}" destId="{8B763387-E2B4-402F-BDA5-988D7E4F8C43}" srcOrd="0" destOrd="0" presId="urn:microsoft.com/office/officeart/2008/layout/LinedList"/>
    <dgm:cxn modelId="{B4F137E0-0F93-4F35-802A-8487F14E295C}" type="presParOf" srcId="{B3DFBBB6-5C68-4DAE-8130-5FAD39C3D85A}" destId="{91ACCE5B-F054-4498-AAD3-A1A2D17234E5}" srcOrd="1" destOrd="0" presId="urn:microsoft.com/office/officeart/2008/layout/LinedList"/>
    <dgm:cxn modelId="{B5B1A813-715A-4328-9583-B5C0BC1CF1F6}" type="presParOf" srcId="{6A6A727B-CAC7-4AA0-91A6-1AADF4165708}" destId="{AC8A202E-A1B7-4335-BADA-4BE469B833E6}" srcOrd="6" destOrd="0" presId="urn:microsoft.com/office/officeart/2008/layout/LinedList"/>
    <dgm:cxn modelId="{7680024F-8FB4-4503-9C96-D4A651656138}" type="presParOf" srcId="{6A6A727B-CAC7-4AA0-91A6-1AADF4165708}" destId="{B9969CBD-9C0D-40A1-9A97-FF9558BB75AE}" srcOrd="7" destOrd="0" presId="urn:microsoft.com/office/officeart/2008/layout/LinedList"/>
    <dgm:cxn modelId="{0F0BFAF9-CE87-475D-AF46-62815FFA466A}" type="presParOf" srcId="{B9969CBD-9C0D-40A1-9A97-FF9558BB75AE}" destId="{62DC7607-197C-4E2C-A880-58323A37C952}" srcOrd="0" destOrd="0" presId="urn:microsoft.com/office/officeart/2008/layout/LinedList"/>
    <dgm:cxn modelId="{CE2C984A-ABC5-499C-ABA1-85E0E9D16025}" type="presParOf" srcId="{B9969CBD-9C0D-40A1-9A97-FF9558BB75AE}" destId="{CE66DB65-629E-4A62-A62E-A60F226C1862}" srcOrd="1" destOrd="0" presId="urn:microsoft.com/office/officeart/2008/layout/LinedList"/>
    <dgm:cxn modelId="{8566F76A-A15D-4B86-B7AF-7EA20F5BA6F3}" type="presParOf" srcId="{6A6A727B-CAC7-4AA0-91A6-1AADF4165708}" destId="{266E7D0D-7C67-499C-852F-7CEF2CC3CD5F}" srcOrd="8" destOrd="0" presId="urn:microsoft.com/office/officeart/2008/layout/LinedList"/>
    <dgm:cxn modelId="{BF5D33D6-BC1C-47C3-B4F9-7F73F537621E}" type="presParOf" srcId="{6A6A727B-CAC7-4AA0-91A6-1AADF4165708}" destId="{8A4EBFA6-1CB7-4659-866E-723E2FAB9DF3}" srcOrd="9" destOrd="0" presId="urn:microsoft.com/office/officeart/2008/layout/LinedList"/>
    <dgm:cxn modelId="{FD762A0F-7E99-47D4-B6C8-A0714F93E225}" type="presParOf" srcId="{8A4EBFA6-1CB7-4659-866E-723E2FAB9DF3}" destId="{0947AF23-B40A-4434-9824-960D4AA487DE}" srcOrd="0" destOrd="0" presId="urn:microsoft.com/office/officeart/2008/layout/LinedList"/>
    <dgm:cxn modelId="{2EF9A15A-C845-4C35-9341-94D20974D8A8}" type="presParOf" srcId="{8A4EBFA6-1CB7-4659-866E-723E2FAB9DF3}" destId="{70A2C5E1-98E4-4793-B976-D5D233D954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FC2CEC-59F8-4FEA-98C3-37A19F02DFE0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FC26F-E9B1-48FD-A6E4-782B563FB1AE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63754-EBC2-407D-8187-8980B4A55D5E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LLMs</a:t>
          </a:r>
          <a:r>
            <a:rPr lang="en-US" sz="2000" kern="1200" dirty="0"/>
            <a:t> = powerful general agents (generative A.I., trained to understand, process and generate human language, can exhibit reasoning and decision-making abilities).</a:t>
          </a:r>
        </a:p>
      </dsp:txBody>
      <dsp:txXfrm>
        <a:off x="1686304" y="623"/>
        <a:ext cx="5530111" cy="1460003"/>
      </dsp:txXfrm>
    </dsp:sp>
    <dsp:sp modelId="{844074DA-81BE-4458-9CCD-74F44E15EDFD}">
      <dsp:nvSpPr>
        <dsp:cNvPr id="0" name=""/>
        <dsp:cNvSpPr/>
      </dsp:nvSpPr>
      <dsp:spPr>
        <a:xfrm>
          <a:off x="0" y="185376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4FCCAA-D2D2-4024-9460-5C52E22197E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5BCE4-68C7-452C-AE0B-F51C0BF7CA54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But</a:t>
          </a:r>
          <a:r>
            <a:rPr lang="en-US" sz="2000" kern="1200" dirty="0"/>
            <a:t>: Do they really </a:t>
          </a:r>
          <a:r>
            <a:rPr lang="en-US" sz="2000" b="1" kern="1200" dirty="0"/>
            <a:t>strategically reason </a:t>
          </a:r>
          <a:r>
            <a:rPr lang="en-US" sz="2000" kern="1200" dirty="0"/>
            <a:t>or just </a:t>
          </a:r>
          <a:r>
            <a:rPr lang="en-US" sz="2000" b="1" kern="1200" dirty="0"/>
            <a:t>recall</a:t>
          </a:r>
          <a:r>
            <a:rPr lang="en-US" sz="2000" kern="1200" dirty="0"/>
            <a:t>? If yes, how deep is their reasoning ability?</a:t>
          </a:r>
        </a:p>
      </dsp:txBody>
      <dsp:txXfrm>
        <a:off x="1686304" y="1825628"/>
        <a:ext cx="5530111" cy="1460003"/>
      </dsp:txXfrm>
    </dsp:sp>
    <dsp:sp modelId="{43170F48-1BFF-4FAC-BD85-811A6398C1C0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91808-F50C-4DBA-955B-332A607744A2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3EF21-CDE6-4F5E-B3B7-89A0D02B86D7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Game Theory </a:t>
          </a:r>
          <a:r>
            <a:rPr lang="en-US" sz="2000" kern="1200" dirty="0"/>
            <a:t>= perfect testbed for probing reasoning.</a:t>
          </a:r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536F27-D324-4B61-ADD8-D054BA25F624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3B51A9-0C75-4078-89DF-8BECAC34C461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40D11-FE75-4126-8A79-9067A1F90C78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Emergent abilities of LLMs: enable complex reasoning</a:t>
          </a:r>
        </a:p>
      </dsp:txBody>
      <dsp:txXfrm>
        <a:off x="1686304" y="623"/>
        <a:ext cx="5530111" cy="1460003"/>
      </dsp:txXfrm>
    </dsp:sp>
    <dsp:sp modelId="{D79B4438-BAF9-4CFE-B247-A891A999D88D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F2F7D-C7F6-4FA4-88B2-DADB6C887CA8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E94C-B4D9-414C-AD05-240734914BEE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Prompting techniques (Zero-Shot, Chain-of-Thought, etc.) guide LLMs</a:t>
          </a:r>
          <a:br>
            <a:rPr lang="en-US" sz="1600" kern="1200"/>
          </a:br>
          <a:r>
            <a:rPr lang="en-US" sz="1600" kern="1200"/>
            <a:t>toward structured reasoning paths rather than surface pattern matching.</a:t>
          </a:r>
        </a:p>
      </dsp:txBody>
      <dsp:txXfrm>
        <a:off x="1686304" y="1825628"/>
        <a:ext cx="5530111" cy="1460003"/>
      </dsp:txXfrm>
    </dsp:sp>
    <dsp:sp modelId="{5398E980-6EFE-4FED-9F75-37E0BF8D3C69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31397-0B19-4E31-8E89-87BA35B5DCDF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5B497-813F-41E8-847C-9DDAFE351A2E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Large Reasoning Models (LRMs): extend this paradigm by </a:t>
          </a:r>
          <a:r>
            <a:rPr lang="en-US" sz="1600" b="1" kern="1200"/>
            <a:t>explicitly training</a:t>
          </a:r>
          <a:r>
            <a:rPr lang="en-US" sz="1600" kern="1200"/>
            <a:t> on reasoning traces and intermediate thought steps, encouraging more systematic and verifiable logic rather than implicit pattern imitation.</a:t>
          </a:r>
        </a:p>
      </dsp:txBody>
      <dsp:txXfrm>
        <a:off x="1686304" y="3650632"/>
        <a:ext cx="5530111" cy="1460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A1ED7-1E14-408A-888F-BB552E7FE699}">
      <dsp:nvSpPr>
        <dsp:cNvPr id="0" name=""/>
        <dsp:cNvSpPr/>
      </dsp:nvSpPr>
      <dsp:spPr>
        <a:xfrm>
          <a:off x="0" y="387620"/>
          <a:ext cx="7216416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Strategic interactions between rational players.</a:t>
          </a:r>
        </a:p>
      </dsp:txBody>
      <dsp:txXfrm>
        <a:off x="30442" y="418062"/>
        <a:ext cx="7155532" cy="562726"/>
      </dsp:txXfrm>
    </dsp:sp>
    <dsp:sp modelId="{32ABDEE3-E848-4747-B5FD-0D24A06133D7}">
      <dsp:nvSpPr>
        <dsp:cNvPr id="0" name=""/>
        <dsp:cNvSpPr/>
      </dsp:nvSpPr>
      <dsp:spPr>
        <a:xfrm>
          <a:off x="0" y="1086110"/>
          <a:ext cx="7216416" cy="623610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Key concepts:</a:t>
          </a:r>
        </a:p>
      </dsp:txBody>
      <dsp:txXfrm>
        <a:off x="30442" y="1116552"/>
        <a:ext cx="7155532" cy="562726"/>
      </dsp:txXfrm>
    </dsp:sp>
    <dsp:sp modelId="{D743094C-4A35-476F-A1DD-C24F9B306499}">
      <dsp:nvSpPr>
        <dsp:cNvPr id="0" name=""/>
        <dsp:cNvSpPr/>
      </dsp:nvSpPr>
      <dsp:spPr>
        <a:xfrm>
          <a:off x="0" y="1709720"/>
          <a:ext cx="7216416" cy="301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Nash Equilibrium</a:t>
          </a:r>
          <a:r>
            <a:rPr lang="en-US" sz="2000" kern="1200" dirty="0"/>
            <a:t>: State where no player is better off by changing their strategy, assuming that all other players’ strategies remain unchanged.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Indifference Property</a:t>
          </a:r>
          <a:r>
            <a:rPr lang="en-US" sz="2000" kern="1200" dirty="0"/>
            <a:t>: At Nash Equilibrium a player is indifferent to choosing any* of the strategies, because they all yield the same expected payoff.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Repeated Games</a:t>
          </a:r>
          <a:r>
            <a:rPr lang="en-US" sz="2000" kern="1200" dirty="0"/>
            <a:t>: Gives games a temporal aspect. Cooperation/retaliation is possible; complex strategies can arise from accumulating information about the opponent.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Payoff Matrix</a:t>
          </a:r>
          <a:r>
            <a:rPr lang="en-US" sz="2000" kern="1200" dirty="0"/>
            <a:t>: (next slide)</a:t>
          </a:r>
        </a:p>
      </dsp:txBody>
      <dsp:txXfrm>
        <a:off x="0" y="1709720"/>
        <a:ext cx="7216416" cy="30139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9337-01B2-4A3B-8709-53B18CB6A304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6A73-2CD4-4985-9C3C-E89A4605EC9B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Experimentation on popular and advanced LLMs and result comparison with other research.</a:t>
          </a:r>
        </a:p>
      </dsp:txBody>
      <dsp:txXfrm>
        <a:off x="0" y="623"/>
        <a:ext cx="7216416" cy="730001"/>
      </dsp:txXfrm>
    </dsp:sp>
    <dsp:sp modelId="{E61E817E-AEBF-4F7D-A224-4C081D34B999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E8045-1247-4A05-B859-549CC92BB2C0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Opinionate on effectiveness of various prompting techniques.</a:t>
          </a:r>
        </a:p>
      </dsp:txBody>
      <dsp:txXfrm>
        <a:off x="0" y="730625"/>
        <a:ext cx="7216416" cy="730001"/>
      </dsp:txXfrm>
    </dsp:sp>
    <dsp:sp modelId="{3788F332-2485-45E6-9CAD-584F22B64BE0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84A78-EDAF-4855-8717-4411C8955931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Gauge counterfactual adaptability of LLMs.</a:t>
          </a:r>
        </a:p>
      </dsp:txBody>
      <dsp:txXfrm>
        <a:off x="0" y="1460627"/>
        <a:ext cx="7216416" cy="730001"/>
      </dsp:txXfrm>
    </dsp:sp>
    <dsp:sp modelId="{03595073-309A-464B-9C44-6B46D29227D2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064E8-79E5-4AC5-A399-D87F07BCB724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Observe cooperation and animosity tendencies of LLM agents in games.</a:t>
          </a:r>
        </a:p>
      </dsp:txBody>
      <dsp:txXfrm>
        <a:off x="0" y="2190629"/>
        <a:ext cx="7216416" cy="730001"/>
      </dsp:txXfrm>
    </dsp:sp>
    <dsp:sp modelId="{908AF4ED-DD79-4F5F-8F8A-1EADBE1217A4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32020-5DAC-4517-981D-FB9C132B6583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Explore the persistence, or lack thereof, of inherent biases of LLMs in strategy selection.</a:t>
          </a:r>
        </a:p>
      </dsp:txBody>
      <dsp:txXfrm>
        <a:off x="0" y="2920630"/>
        <a:ext cx="7216416" cy="730001"/>
      </dsp:txXfrm>
    </dsp:sp>
    <dsp:sp modelId="{D04BC79D-FDED-4241-AB99-133915CF86FB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9804C-3673-4E60-ABC5-791483592143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Reinforce opinions correlating LLM size, prompting techniques, and reasoning variants with problem difficulty and complexity.</a:t>
          </a:r>
        </a:p>
      </dsp:txBody>
      <dsp:txXfrm>
        <a:off x="0" y="3650632"/>
        <a:ext cx="7216416" cy="730001"/>
      </dsp:txXfrm>
    </dsp:sp>
    <dsp:sp modelId="{DF19D84D-DD52-4836-8C45-673FAC3FE392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BB540-F194-4F27-90D6-B4D1DEEF128C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Framework for testing LLMs in repeated games; introduction of appropriate metrics.</a:t>
          </a:r>
        </a:p>
      </dsp:txBody>
      <dsp:txXfrm>
        <a:off x="0" y="4380634"/>
        <a:ext cx="7216416" cy="7300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8B2EC-BCDA-4BB7-B95A-CB5F570D2589}">
      <dsp:nvSpPr>
        <dsp:cNvPr id="0" name=""/>
        <dsp:cNvSpPr/>
      </dsp:nvSpPr>
      <dsp:spPr>
        <a:xfrm>
          <a:off x="0" y="0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48CCD-DDD7-4A63-ADB6-E6E39E5E88DC}">
      <dsp:nvSpPr>
        <dsp:cNvPr id="0" name=""/>
        <dsp:cNvSpPr/>
      </dsp:nvSpPr>
      <dsp:spPr>
        <a:xfrm>
          <a:off x="0" y="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Zero-Shot</a:t>
          </a:r>
          <a:r>
            <a:rPr lang="en-US" sz="2700" kern="1200" dirty="0"/>
            <a:t>: Prompt initialized with just the game description.</a:t>
          </a:r>
        </a:p>
      </dsp:txBody>
      <dsp:txXfrm>
        <a:off x="0" y="0"/>
        <a:ext cx="7216416" cy="1277815"/>
      </dsp:txXfrm>
    </dsp:sp>
    <dsp:sp modelId="{AD0AA566-0FBC-4E50-B1AD-3CCFBF839E61}">
      <dsp:nvSpPr>
        <dsp:cNvPr id="0" name=""/>
        <dsp:cNvSpPr/>
      </dsp:nvSpPr>
      <dsp:spPr>
        <a:xfrm>
          <a:off x="0" y="1277815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1EC7E-26E7-45FA-B63F-F53E6B073D52}">
      <dsp:nvSpPr>
        <dsp:cNvPr id="0" name=""/>
        <dsp:cNvSpPr/>
      </dsp:nvSpPr>
      <dsp:spPr>
        <a:xfrm>
          <a:off x="0" y="127781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Chain-of-Thought</a:t>
          </a:r>
          <a:r>
            <a:rPr lang="en-US" sz="2700" kern="1200" dirty="0"/>
            <a:t>: Prompt encourages player to think step-by-step. </a:t>
          </a:r>
        </a:p>
      </dsp:txBody>
      <dsp:txXfrm>
        <a:off x="0" y="1277815"/>
        <a:ext cx="7216416" cy="1277815"/>
      </dsp:txXfrm>
    </dsp:sp>
    <dsp:sp modelId="{304BBB96-88DD-42A9-B3F1-B98D67C2730B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F5FF3-A85F-4E2B-818B-068EEB39E71D}">
      <dsp:nvSpPr>
        <dsp:cNvPr id="0" name=""/>
        <dsp:cNvSpPr/>
      </dsp:nvSpPr>
      <dsp:spPr>
        <a:xfrm>
          <a:off x="0" y="255563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Solo-Performance</a:t>
          </a:r>
          <a:r>
            <a:rPr lang="en-US" sz="2700" kern="1200" dirty="0"/>
            <a:t>: Prompt encourages player to self-collaborate with multiple personas.</a:t>
          </a:r>
        </a:p>
      </dsp:txBody>
      <dsp:txXfrm>
        <a:off x="0" y="2555630"/>
        <a:ext cx="7216416" cy="1277815"/>
      </dsp:txXfrm>
    </dsp:sp>
    <dsp:sp modelId="{0A2EEF30-B121-43EB-84FD-25F6939AFCB4}">
      <dsp:nvSpPr>
        <dsp:cNvPr id="0" name=""/>
        <dsp:cNvSpPr/>
      </dsp:nvSpPr>
      <dsp:spPr>
        <a:xfrm>
          <a:off x="0" y="3833445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5E87A-5CEC-43A6-9818-CA6D5AAC66C9}">
      <dsp:nvSpPr>
        <dsp:cNvPr id="0" name=""/>
        <dsp:cNvSpPr/>
      </dsp:nvSpPr>
      <dsp:spPr>
        <a:xfrm>
          <a:off x="0" y="383344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Self-Consistency</a:t>
          </a:r>
        </a:p>
      </dsp:txBody>
      <dsp:txXfrm>
        <a:off x="0" y="3833445"/>
        <a:ext cx="7216416" cy="1277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8B2EC-BCDA-4BB7-B95A-CB5F570D2589}">
      <dsp:nvSpPr>
        <dsp:cNvPr id="0" name=""/>
        <dsp:cNvSpPr/>
      </dsp:nvSpPr>
      <dsp:spPr>
        <a:xfrm>
          <a:off x="0" y="0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48CCD-DDD7-4A63-ADB6-E6E39E5E88DC}">
      <dsp:nvSpPr>
        <dsp:cNvPr id="0" name=""/>
        <dsp:cNvSpPr/>
      </dsp:nvSpPr>
      <dsp:spPr>
        <a:xfrm>
          <a:off x="0" y="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/>
            <a:t>Srep</a:t>
          </a:r>
          <a:r>
            <a:rPr lang="en-US" sz="2600" kern="1200" dirty="0"/>
            <a:t>: single-round equilibrium player; plays according to the (mixed) strategy Nash Equilibrium of the base game in every round.</a:t>
          </a:r>
        </a:p>
      </dsp:txBody>
      <dsp:txXfrm>
        <a:off x="0" y="0"/>
        <a:ext cx="7216416" cy="1277815"/>
      </dsp:txXfrm>
    </dsp:sp>
    <dsp:sp modelId="{AD0AA566-0FBC-4E50-B1AD-3CCFBF839E61}">
      <dsp:nvSpPr>
        <dsp:cNvPr id="0" name=""/>
        <dsp:cNvSpPr/>
      </dsp:nvSpPr>
      <dsp:spPr>
        <a:xfrm>
          <a:off x="0" y="1277815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1EC7E-26E7-45FA-B63F-F53E6B073D52}">
      <dsp:nvSpPr>
        <dsp:cNvPr id="0" name=""/>
        <dsp:cNvSpPr/>
      </dsp:nvSpPr>
      <dsp:spPr>
        <a:xfrm>
          <a:off x="0" y="127781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Pp</a:t>
          </a:r>
          <a:r>
            <a:rPr lang="en-US" sz="2600" kern="1200" dirty="0"/>
            <a:t>: pattern player; repeats the same pattern of moves.</a:t>
          </a:r>
        </a:p>
      </dsp:txBody>
      <dsp:txXfrm>
        <a:off x="0" y="1277815"/>
        <a:ext cx="7216416" cy="1277815"/>
      </dsp:txXfrm>
    </dsp:sp>
    <dsp:sp modelId="{304BBB96-88DD-42A9-B3F1-B98D67C2730B}">
      <dsp:nvSpPr>
        <dsp:cNvPr id="0" name=""/>
        <dsp:cNvSpPr/>
      </dsp:nvSpPr>
      <dsp:spPr>
        <a:xfrm>
          <a:off x="0" y="2555630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6F5FF3-A85F-4E2B-818B-068EEB39E71D}">
      <dsp:nvSpPr>
        <dsp:cNvPr id="0" name=""/>
        <dsp:cNvSpPr/>
      </dsp:nvSpPr>
      <dsp:spPr>
        <a:xfrm>
          <a:off x="0" y="2555630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/>
            <a:t>Tft</a:t>
          </a:r>
          <a:r>
            <a:rPr lang="en-US" sz="2600" kern="1200" dirty="0"/>
            <a:t>: Tit-for-Tat player; plays the move that is best paired with the opponent’s last move.</a:t>
          </a:r>
        </a:p>
      </dsp:txBody>
      <dsp:txXfrm>
        <a:off x="0" y="2555630"/>
        <a:ext cx="7216416" cy="1277815"/>
      </dsp:txXfrm>
    </dsp:sp>
    <dsp:sp modelId="{54A8345E-81E4-4814-9C9E-C9723C3C1BAC}">
      <dsp:nvSpPr>
        <dsp:cNvPr id="0" name=""/>
        <dsp:cNvSpPr/>
      </dsp:nvSpPr>
      <dsp:spPr>
        <a:xfrm>
          <a:off x="0" y="3833445"/>
          <a:ext cx="72164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3B6F1-D1F5-4DBB-BD8E-130DE0315C22}">
      <dsp:nvSpPr>
        <dsp:cNvPr id="0" name=""/>
        <dsp:cNvSpPr/>
      </dsp:nvSpPr>
      <dsp:spPr>
        <a:xfrm>
          <a:off x="0" y="3833445"/>
          <a:ext cx="7216416" cy="127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 err="1"/>
            <a:t>Mf</a:t>
          </a:r>
          <a:r>
            <a:rPr lang="en-US" sz="2600" kern="1200" dirty="0"/>
            <a:t> (maximizer of most frequent move) or </a:t>
          </a:r>
          <a:r>
            <a:rPr lang="en-US" sz="2600" b="1" kern="1200" dirty="0"/>
            <a:t>Ap</a:t>
          </a:r>
          <a:r>
            <a:rPr lang="en-US" sz="2600" kern="1200" dirty="0"/>
            <a:t> (Adaptive player): plays the move that is best paired with the opponent’s most frequent move.</a:t>
          </a:r>
        </a:p>
      </dsp:txBody>
      <dsp:txXfrm>
        <a:off x="0" y="3833445"/>
        <a:ext cx="7216416" cy="12778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580B9-722A-493A-9F7B-BDC3BE7FE4A5}">
      <dsp:nvSpPr>
        <dsp:cNvPr id="0" name=""/>
        <dsp:cNvSpPr/>
      </dsp:nvSpPr>
      <dsp:spPr>
        <a:xfrm>
          <a:off x="0" y="450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DA7A0-11BD-4423-A19B-D83E504FA958}">
      <dsp:nvSpPr>
        <dsp:cNvPr id="0" name=""/>
        <dsp:cNvSpPr/>
      </dsp:nvSpPr>
      <dsp:spPr>
        <a:xfrm>
          <a:off x="0" y="450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Effective Counterfactual Reasoning</a:t>
          </a:r>
          <a:endParaRPr lang="en-US" sz="1500" kern="1200" dirty="0"/>
        </a:p>
      </dsp:txBody>
      <dsp:txXfrm>
        <a:off x="0" y="450"/>
        <a:ext cx="10363200" cy="527065"/>
      </dsp:txXfrm>
    </dsp:sp>
    <dsp:sp modelId="{6A77F51E-AF7C-4B6A-A30A-1A62679E3B9B}">
      <dsp:nvSpPr>
        <dsp:cNvPr id="0" name=""/>
        <dsp:cNvSpPr/>
      </dsp:nvSpPr>
      <dsp:spPr>
        <a:xfrm>
          <a:off x="0" y="527515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62279-E4DB-44CE-B435-8E2C8941CFFC}">
      <dsp:nvSpPr>
        <dsp:cNvPr id="0" name=""/>
        <dsp:cNvSpPr/>
      </dsp:nvSpPr>
      <dsp:spPr>
        <a:xfrm>
          <a:off x="0" y="527515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Socially-informed Cooperation</a:t>
          </a:r>
          <a:endParaRPr lang="en-US" sz="1500" kern="1200" dirty="0"/>
        </a:p>
      </dsp:txBody>
      <dsp:txXfrm>
        <a:off x="0" y="527515"/>
        <a:ext cx="10363200" cy="527065"/>
      </dsp:txXfrm>
    </dsp:sp>
    <dsp:sp modelId="{1CCE70BA-9A6C-4D68-9D7D-EFF10CB938EC}">
      <dsp:nvSpPr>
        <dsp:cNvPr id="0" name=""/>
        <dsp:cNvSpPr/>
      </dsp:nvSpPr>
      <dsp:spPr>
        <a:xfrm>
          <a:off x="0" y="1054580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6E63D-29F0-4305-B98A-9237B87DC695}">
      <dsp:nvSpPr>
        <dsp:cNvPr id="0" name=""/>
        <dsp:cNvSpPr/>
      </dsp:nvSpPr>
      <dsp:spPr>
        <a:xfrm>
          <a:off x="0" y="1054580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Bias Dissipation in Repeated Games</a:t>
          </a:r>
          <a:endParaRPr lang="en-US" sz="1500" kern="1200" dirty="0"/>
        </a:p>
      </dsp:txBody>
      <dsp:txXfrm>
        <a:off x="0" y="1054580"/>
        <a:ext cx="10363200" cy="527065"/>
      </dsp:txXfrm>
    </dsp:sp>
    <dsp:sp modelId="{E0678669-3450-4586-AB5A-CFFFF8B2AEBA}">
      <dsp:nvSpPr>
        <dsp:cNvPr id="0" name=""/>
        <dsp:cNvSpPr/>
      </dsp:nvSpPr>
      <dsp:spPr>
        <a:xfrm>
          <a:off x="0" y="1581645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3DE0A-25A1-45F1-9018-17E0097A5108}">
      <dsp:nvSpPr>
        <dsp:cNvPr id="0" name=""/>
        <dsp:cNvSpPr/>
      </dsp:nvSpPr>
      <dsp:spPr>
        <a:xfrm>
          <a:off x="0" y="1581645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Capacity – Complexity Alignment</a:t>
          </a:r>
          <a:endParaRPr lang="en-US" sz="1500" kern="1200" dirty="0"/>
        </a:p>
      </dsp:txBody>
      <dsp:txXfrm>
        <a:off x="0" y="1581645"/>
        <a:ext cx="10363200" cy="527065"/>
      </dsp:txXfrm>
    </dsp:sp>
    <dsp:sp modelId="{6EF7803B-3DDA-44FB-8F41-3BE372F8BC05}">
      <dsp:nvSpPr>
        <dsp:cNvPr id="0" name=""/>
        <dsp:cNvSpPr/>
      </dsp:nvSpPr>
      <dsp:spPr>
        <a:xfrm>
          <a:off x="0" y="2108711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F706A-34F5-46C4-AC22-DC770CCB7593}">
      <dsp:nvSpPr>
        <dsp:cNvPr id="0" name=""/>
        <dsp:cNvSpPr/>
      </dsp:nvSpPr>
      <dsp:spPr>
        <a:xfrm>
          <a:off x="0" y="2108711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Dynamic Strategy Adaptation</a:t>
          </a:r>
        </a:p>
      </dsp:txBody>
      <dsp:txXfrm>
        <a:off x="0" y="2108711"/>
        <a:ext cx="10363200" cy="527065"/>
      </dsp:txXfrm>
    </dsp:sp>
    <dsp:sp modelId="{1FF4B2C7-947B-4E7D-A7E0-36C5CA82088D}">
      <dsp:nvSpPr>
        <dsp:cNvPr id="0" name=""/>
        <dsp:cNvSpPr/>
      </dsp:nvSpPr>
      <dsp:spPr>
        <a:xfrm>
          <a:off x="0" y="2635776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EFD7D-1C71-4EAD-AD8D-B096A4B59AEC}">
      <dsp:nvSpPr>
        <dsp:cNvPr id="0" name=""/>
        <dsp:cNvSpPr/>
      </dsp:nvSpPr>
      <dsp:spPr>
        <a:xfrm>
          <a:off x="0" y="2635776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Prompting Efficiency</a:t>
          </a:r>
          <a:r>
            <a:rPr lang="en-US" sz="1500" kern="1200" dirty="0"/>
            <a:t>: Structured prompts (</a:t>
          </a:r>
          <a:r>
            <a:rPr lang="en-US" sz="1500" kern="1200" dirty="0" err="1"/>
            <a:t>CoT</a:t>
          </a:r>
          <a:r>
            <a:rPr lang="en-US" sz="1500" kern="1200" dirty="0"/>
            <a:t>, SPP, Self-Consistency) improved efficiency in smaller models; Self-Consistency often not cost-effective.</a:t>
          </a:r>
        </a:p>
      </dsp:txBody>
      <dsp:txXfrm>
        <a:off x="0" y="2635776"/>
        <a:ext cx="10363200" cy="527065"/>
      </dsp:txXfrm>
    </dsp:sp>
    <dsp:sp modelId="{5329D5C8-97F6-498D-AFC4-5C0B5FD276DC}">
      <dsp:nvSpPr>
        <dsp:cNvPr id="0" name=""/>
        <dsp:cNvSpPr/>
      </dsp:nvSpPr>
      <dsp:spPr>
        <a:xfrm>
          <a:off x="0" y="3162841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C4206-81B5-4E9C-A92A-1C30436B6201}">
      <dsp:nvSpPr>
        <dsp:cNvPr id="0" name=""/>
        <dsp:cNvSpPr/>
      </dsp:nvSpPr>
      <dsp:spPr>
        <a:xfrm>
          <a:off x="0" y="3162841"/>
          <a:ext cx="10363200" cy="5270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“Thinking” Model Variants</a:t>
          </a:r>
          <a:r>
            <a:rPr lang="en-US" sz="1500" kern="1200" dirty="0"/>
            <a:t>: “Thinking” LLMs sometimes outperformed defaults, but also showed greater confusion, echoing recent concerns about reasoning fragility.</a:t>
          </a:r>
        </a:p>
      </dsp:txBody>
      <dsp:txXfrm>
        <a:off x="0" y="3162841"/>
        <a:ext cx="10363200" cy="5270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725B9-CDA7-43C9-BF2E-ACCE4E378F62}">
      <dsp:nvSpPr>
        <dsp:cNvPr id="0" name=""/>
        <dsp:cNvSpPr/>
      </dsp:nvSpPr>
      <dsp:spPr>
        <a:xfrm>
          <a:off x="0" y="450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F8FEA-8795-4A68-8D1A-902BCAB8BE0A}">
      <dsp:nvSpPr>
        <dsp:cNvPr id="0" name=""/>
        <dsp:cNvSpPr/>
      </dsp:nvSpPr>
      <dsp:spPr>
        <a:xfrm>
          <a:off x="0" y="450"/>
          <a:ext cx="10363200" cy="737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Human vs. LLM Interactions</a:t>
          </a:r>
        </a:p>
      </dsp:txBody>
      <dsp:txXfrm>
        <a:off x="0" y="450"/>
        <a:ext cx="10363200" cy="737891"/>
      </dsp:txXfrm>
    </dsp:sp>
    <dsp:sp modelId="{E5B4EC98-909D-43D4-89E9-611D37FA64B6}">
      <dsp:nvSpPr>
        <dsp:cNvPr id="0" name=""/>
        <dsp:cNvSpPr/>
      </dsp:nvSpPr>
      <dsp:spPr>
        <a:xfrm>
          <a:off x="0" y="738341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E518A-4F9E-48CD-ABFD-EBEB17F992F2}">
      <dsp:nvSpPr>
        <dsp:cNvPr id="0" name=""/>
        <dsp:cNvSpPr/>
      </dsp:nvSpPr>
      <dsp:spPr>
        <a:xfrm>
          <a:off x="0" y="738341"/>
          <a:ext cx="10363200" cy="737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Multi-agent and Multi-round Games with Communication</a:t>
          </a:r>
        </a:p>
      </dsp:txBody>
      <dsp:txXfrm>
        <a:off x="0" y="738341"/>
        <a:ext cx="10363200" cy="737891"/>
      </dsp:txXfrm>
    </dsp:sp>
    <dsp:sp modelId="{AC7EAE78-AB98-4B9D-8AD8-D565ABDEACB1}">
      <dsp:nvSpPr>
        <dsp:cNvPr id="0" name=""/>
        <dsp:cNvSpPr/>
      </dsp:nvSpPr>
      <dsp:spPr>
        <a:xfrm>
          <a:off x="0" y="1476232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63387-E2B4-402F-BDA5-988D7E4F8C43}">
      <dsp:nvSpPr>
        <dsp:cNvPr id="0" name=""/>
        <dsp:cNvSpPr/>
      </dsp:nvSpPr>
      <dsp:spPr>
        <a:xfrm>
          <a:off x="0" y="1476232"/>
          <a:ext cx="10363200" cy="737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Scaling Behavioral Traits with Model Size</a:t>
          </a:r>
        </a:p>
      </dsp:txBody>
      <dsp:txXfrm>
        <a:off x="0" y="1476232"/>
        <a:ext cx="10363200" cy="737891"/>
      </dsp:txXfrm>
    </dsp:sp>
    <dsp:sp modelId="{AC8A202E-A1B7-4335-BADA-4BE469B833E6}">
      <dsp:nvSpPr>
        <dsp:cNvPr id="0" name=""/>
        <dsp:cNvSpPr/>
      </dsp:nvSpPr>
      <dsp:spPr>
        <a:xfrm>
          <a:off x="0" y="2214124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C7607-197C-4E2C-A880-58323A37C952}">
      <dsp:nvSpPr>
        <dsp:cNvPr id="0" name=""/>
        <dsp:cNvSpPr/>
      </dsp:nvSpPr>
      <dsp:spPr>
        <a:xfrm>
          <a:off x="0" y="2214124"/>
          <a:ext cx="10363200" cy="737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Longer Games and Memory Integration</a:t>
          </a:r>
        </a:p>
      </dsp:txBody>
      <dsp:txXfrm>
        <a:off x="0" y="2214124"/>
        <a:ext cx="10363200" cy="737891"/>
      </dsp:txXfrm>
    </dsp:sp>
    <dsp:sp modelId="{266E7D0D-7C67-499C-852F-7CEF2CC3CD5F}">
      <dsp:nvSpPr>
        <dsp:cNvPr id="0" name=""/>
        <dsp:cNvSpPr/>
      </dsp:nvSpPr>
      <dsp:spPr>
        <a:xfrm>
          <a:off x="0" y="2952015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7AF23-B40A-4434-9824-960D4AA487DE}">
      <dsp:nvSpPr>
        <dsp:cNvPr id="0" name=""/>
        <dsp:cNvSpPr/>
      </dsp:nvSpPr>
      <dsp:spPr>
        <a:xfrm>
          <a:off x="0" y="2952015"/>
          <a:ext cx="10363200" cy="737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Formalizing Benchmarks for Rationality in LLMs</a:t>
          </a:r>
        </a:p>
      </dsp:txBody>
      <dsp:txXfrm>
        <a:off x="0" y="2952015"/>
        <a:ext cx="10363200" cy="737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25FB9-E9D9-46E6-BA78-51718B453380}" type="datetimeFigureOut">
              <a:rPr lang="LID4096" smtClean="0"/>
              <a:t>10/29/2025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C3D27-C8BC-4996-9EAE-43C160E4FE7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70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1519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Το κίνητρο της διπλωματικής είναι να εξετάσουμε τις συλλογιστικές ικανότητες των ΜΓΜ. Ο σκοπός αυτός είναι πολύ γενικός, επικεντρωνόμαστε σε </a:t>
            </a:r>
            <a:r>
              <a:rPr lang="el-GR" dirty="0" err="1"/>
              <a:t>συγκεκρίμενες</a:t>
            </a:r>
            <a:r>
              <a:rPr lang="el-GR" dirty="0"/>
              <a:t> τεχνικές προτροπής και συγκεκριμένο μέρος της Θεωρίας Παιγνίων.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1877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Περιορισμένη έμφαση στην Συλλογιστική επί Αντιφατικών Σεναρίων στη Θεωρία Παιγνίων: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Η Θεωρία Παιγνίων είναι ευρεία έννοια, οπότε η έρευνα συνηθίζει να περιλαμβάνει διάφορα σενάρια Θεωρίας Παιγνίων μαζί. Έτσι, δεν εμβαθύνει ιδιαίτερα σε κάποια από αυτά και, συγκεκριμένα, στο υποσύνολο τέτοιων πειραμάτων που διαλέξαμε εμείς.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Τα Αντιφατικά Σενάρια, συνήθως συναντώνται ως απλά διαφοροποιήσεις στις αριθμητικές τιμές των απολαβών (</a:t>
            </a:r>
            <a:r>
              <a:rPr lang="en-US" dirty="0"/>
              <a:t>payoffs) </a:t>
            </a:r>
            <a:r>
              <a:rPr lang="el-GR" dirty="0"/>
              <a:t>των παικτών με σκοπό απλά να εξεταστεί αν τα </a:t>
            </a:r>
            <a:r>
              <a:rPr lang="en-US" dirty="0"/>
              <a:t>LLMs </a:t>
            </a:r>
            <a:r>
              <a:rPr lang="el-GR" dirty="0"/>
              <a:t>προσκολλώνται σε συγκεκριμένες αριθμητικές τιμές.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l-G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dirty="0"/>
              <a:t>Συγκεκριμένα, τα </a:t>
            </a:r>
            <a:r>
              <a:rPr lang="el-GR" dirty="0" err="1"/>
              <a:t>παιγνία</a:t>
            </a:r>
            <a:r>
              <a:rPr lang="el-GR" dirty="0"/>
              <a:t> που εξετάζουμε είναι </a:t>
            </a:r>
            <a:r>
              <a:rPr lang="en-US" dirty="0"/>
              <a:t>simultaneous (symmetric) two-player games with mixed Strategy Nash-Equilibria</a:t>
            </a:r>
            <a:r>
              <a:rPr lang="el-GR" dirty="0"/>
              <a:t>. Εξετάζουμε μόνο τα</a:t>
            </a:r>
            <a:r>
              <a:rPr lang="en-US" dirty="0"/>
              <a:t> repeated variants </a:t>
            </a:r>
            <a:r>
              <a:rPr lang="el-GR" dirty="0"/>
              <a:t>αυτών (οι δύο αντίπαλοι παίζουν συνεχόμενα πολλούς γύρους μεταξύ τους).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655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Αναδεικνυόμενες ικανότητες μπορεί να είναι: </a:t>
            </a:r>
            <a:r>
              <a:rPr lang="en-US" dirty="0"/>
              <a:t>In-context learning, step-by-step problem solving, </a:t>
            </a:r>
            <a:r>
              <a:rPr lang="el-GR" dirty="0"/>
              <a:t>στρατηγικές επιλογές σε </a:t>
            </a:r>
            <a:r>
              <a:rPr lang="el-GR" dirty="0" err="1"/>
              <a:t>διαδραστικές</a:t>
            </a:r>
            <a:r>
              <a:rPr lang="el-GR" dirty="0"/>
              <a:t> εργασίες </a:t>
            </a:r>
            <a:r>
              <a:rPr lang="en-US" dirty="0"/>
              <a:t>(strategic decisions in interactive tasks).</a:t>
            </a:r>
          </a:p>
          <a:p>
            <a:endParaRPr lang="el-GR" dirty="0"/>
          </a:p>
          <a:p>
            <a:r>
              <a:rPr lang="el-GR" dirty="0"/>
              <a:t>Δομήσαμε τα περιβάλλοντα Θεωρίας Παιγνίων μας για να τεστάρουμε αυτές τις συλλογιστικές ικανότητες των </a:t>
            </a:r>
            <a:r>
              <a:rPr lang="en-US" dirty="0"/>
              <a:t>LLMs </a:t>
            </a:r>
            <a:r>
              <a:rPr lang="el-GR" dirty="0"/>
              <a:t>και να δούμε εάν γενικεύονται πέρα από την απομνημόνευση μοτίβων.</a:t>
            </a:r>
            <a:endParaRPr lang="en-US" dirty="0"/>
          </a:p>
          <a:p>
            <a:endParaRPr lang="en-US" dirty="0"/>
          </a:p>
          <a:p>
            <a:r>
              <a:rPr lang="en-US" dirty="0"/>
              <a:t>LLMs: Claude {3.5, 3.7, 4} Sonnet, Llama 3.3 70B Instruct, Mistral Large (24.07)</a:t>
            </a:r>
          </a:p>
          <a:p>
            <a:r>
              <a:rPr lang="en-US" dirty="0"/>
              <a:t>LRMs: Claude {3.7, 4} Sonnet (Thinking), DeepSeek-R1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8156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any*:</a:t>
            </a:r>
            <a:r>
              <a:rPr lang="el-GR" dirty="0"/>
              <a:t> μετράμε ΜΟΝΟ τις στρατηγικές που εμφανίζονται στη (</a:t>
            </a:r>
            <a:r>
              <a:rPr lang="en-US" dirty="0"/>
              <a:t>mixed) strategy </a:t>
            </a:r>
            <a:r>
              <a:rPr lang="el-GR" dirty="0"/>
              <a:t>του </a:t>
            </a:r>
            <a:r>
              <a:rPr lang="en-US" dirty="0"/>
              <a:t>Nash Equilibrium </a:t>
            </a:r>
            <a:r>
              <a:rPr lang="el-GR" dirty="0"/>
              <a:t>του παίκτη με μη μηδενική πιθανότητα.</a:t>
            </a:r>
          </a:p>
          <a:p>
            <a:endParaRPr lang="el-GR" dirty="0"/>
          </a:p>
          <a:p>
            <a:r>
              <a:rPr lang="el-GR" dirty="0"/>
              <a:t>Το </a:t>
            </a:r>
            <a:r>
              <a:rPr lang="el-GR" dirty="0" err="1"/>
              <a:t>παιγνίο</a:t>
            </a:r>
            <a:r>
              <a:rPr lang="el-GR" dirty="0"/>
              <a:t> το οποίο επαναλαμβάνεται στα </a:t>
            </a:r>
            <a:r>
              <a:rPr lang="en-US" dirty="0"/>
              <a:t>repeated games </a:t>
            </a:r>
            <a:r>
              <a:rPr lang="el-GR" dirty="0"/>
              <a:t>λέγεται </a:t>
            </a:r>
            <a:r>
              <a:rPr lang="en-US" dirty="0"/>
              <a:t>base game/stage game/</a:t>
            </a:r>
            <a:r>
              <a:rPr lang="el-GR" dirty="0"/>
              <a:t>βασικό </a:t>
            </a:r>
            <a:r>
              <a:rPr lang="el-GR" dirty="0" err="1"/>
              <a:t>παιγνίο</a:t>
            </a:r>
            <a:r>
              <a:rPr lang="el-GR" dirty="0"/>
              <a:t>.</a:t>
            </a:r>
            <a:endParaRPr lang="en-US" dirty="0"/>
          </a:p>
          <a:p>
            <a:endParaRPr lang="en-US" dirty="0"/>
          </a:p>
          <a:p>
            <a:r>
              <a:rPr lang="el-GR" dirty="0"/>
              <a:t>Αναφέρουμε και τι είναι και η ισορροπία </a:t>
            </a:r>
            <a:r>
              <a:rPr lang="en-US" dirty="0"/>
              <a:t>Nash </a:t>
            </a:r>
            <a:r>
              <a:rPr lang="el-GR" dirty="0"/>
              <a:t>μικτής στρατηγικής. Θεωρούμε, πλέον, ότι ο παίκτης δεν διαλέγει αναγκαστικά μία στρατηγική (μία κίνηση που του επιτρέπει το </a:t>
            </a:r>
            <a:r>
              <a:rPr lang="el-GR" dirty="0" err="1"/>
              <a:t>παιγνίο</a:t>
            </a:r>
            <a:r>
              <a:rPr lang="el-GR" dirty="0"/>
              <a:t>), αλλά έχει στη διάθεσή του μία μονάδα που μπορεί να την κατανέμει όπως θέλει στις διάφορες στρατηγικές (κινήσεις που του επιτρέπει το </a:t>
            </a:r>
            <a:r>
              <a:rPr lang="el-GR" dirty="0" err="1"/>
              <a:t>παιγνίο</a:t>
            </a:r>
            <a:r>
              <a:rPr lang="el-GR" dirty="0"/>
              <a:t>). Έτσι, μπορεί να καταλήξει να παίζει μία (μικτή) στρατηγική που είναι π.χ. </a:t>
            </a:r>
            <a:r>
              <a:rPr lang="el-GR" dirty="0" err="1"/>
              <a:t>παιγνίο</a:t>
            </a:r>
            <a:r>
              <a:rPr lang="el-GR" dirty="0"/>
              <a:t> που έχει 10 κινήσεις: </a:t>
            </a:r>
            <a:r>
              <a:rPr lang="en-US" dirty="0"/>
              <a:t>“1” </a:t>
            </a:r>
            <a:r>
              <a:rPr lang="el-GR" dirty="0"/>
              <a:t>έως </a:t>
            </a:r>
            <a:r>
              <a:rPr lang="en-US" dirty="0"/>
              <a:t>“10”; </a:t>
            </a:r>
            <a:r>
              <a:rPr lang="el-GR" dirty="0"/>
              <a:t>Ο παίκτης παίζει 80% η κίνηση </a:t>
            </a:r>
            <a:r>
              <a:rPr lang="en-US" dirty="0"/>
              <a:t>“1”</a:t>
            </a:r>
            <a:r>
              <a:rPr lang="el-GR" dirty="0"/>
              <a:t>, 20% η κίνηση </a:t>
            </a:r>
            <a:r>
              <a:rPr lang="en-US" dirty="0"/>
              <a:t>“2”, </a:t>
            </a:r>
            <a:r>
              <a:rPr lang="el-GR" dirty="0"/>
              <a:t>και 0% οι υπόλοιπες κινήσεις.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0681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pd: Prisoner’s Dilemma </a:t>
            </a:r>
            <a:r>
              <a:rPr lang="en-US" dirty="0">
                <a:sym typeface="Wingdings" panose="05000000000000000000" pitchFamily="2" charset="2"/>
              </a:rPr>
              <a:t> default setting</a:t>
            </a:r>
          </a:p>
          <a:p>
            <a:r>
              <a:rPr lang="en-US" dirty="0" err="1">
                <a:sym typeface="Wingdings" panose="05000000000000000000" pitchFamily="2" charset="2"/>
              </a:rPr>
              <a:t>sh</a:t>
            </a:r>
            <a:r>
              <a:rPr lang="en-US" dirty="0">
                <a:sym typeface="Wingdings" panose="05000000000000000000" pitchFamily="2" charset="2"/>
              </a:rPr>
              <a:t>-alt: strategy counterfactual of pd</a:t>
            </a:r>
          </a:p>
          <a:p>
            <a:r>
              <a:rPr lang="en-US" dirty="0">
                <a:sym typeface="Wingdings" panose="05000000000000000000" pitchFamily="2" charset="2"/>
              </a:rPr>
              <a:t>pd-alt: payoff counterfactual of pd, but using ruleset of Stag Hunt</a:t>
            </a:r>
          </a:p>
          <a:p>
            <a:r>
              <a:rPr lang="en-US" dirty="0" err="1">
                <a:sym typeface="Wingdings" panose="05000000000000000000" pitchFamily="2" charset="2"/>
              </a:rPr>
              <a:t>sh</a:t>
            </a:r>
            <a:r>
              <a:rPr lang="en-US" dirty="0">
                <a:sym typeface="Wingdings" panose="05000000000000000000" pitchFamily="2" charset="2"/>
              </a:rPr>
              <a:t>: Stag Hunt, it is both a strategy and payoff counterfactual of Prisoner’s Dilemma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eq1: Default strategies; all payoffs equal to 1</a:t>
            </a:r>
            <a:endParaRPr lang="en-AI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eq1-alt: Strategy Counterfactual</a:t>
            </a:r>
            <a:endParaRPr lang="en-AI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ba3: Payoff Counterfactual; Paper wins give 3 points</a:t>
            </a:r>
            <a:endParaRPr lang="en-AI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ba3-alt: Combined Counterfactual</a:t>
            </a:r>
            <a:endParaRPr lang="en-AI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l-GR" dirty="0">
                <a:sym typeface="Wingdings" panose="05000000000000000000" pitchFamily="2" charset="2"/>
              </a:rPr>
              <a:t>Ξανά αναφέρουμε τη διαφορά αυτών των αντιφατικών σεναρίων με τα απλά αντιφατικά σενάρια απολαβών </a:t>
            </a:r>
            <a:r>
              <a:rPr lang="en-US" dirty="0">
                <a:sym typeface="Wingdings" panose="05000000000000000000" pitchFamily="2" charset="2"/>
              </a:rPr>
              <a:t>(payoff counterfactuals) </a:t>
            </a:r>
            <a:r>
              <a:rPr lang="el-GR" dirty="0">
                <a:sym typeface="Wingdings" panose="05000000000000000000" pitchFamily="2" charset="2"/>
              </a:rPr>
              <a:t>που συναντώνται συνήθως σε άλλο </a:t>
            </a:r>
            <a:r>
              <a:rPr lang="en-US" dirty="0">
                <a:sym typeface="Wingdings" panose="05000000000000000000" pitchFamily="2" charset="2"/>
              </a:rPr>
              <a:t>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372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Η συμβολή μας περιλαμβάνει γενικά στοιχεία που θα είχε μία οποιαδήποτε δουλεία σε θεωρία παιγνίων με </a:t>
            </a:r>
            <a:r>
              <a:rPr lang="en-US" dirty="0"/>
              <a:t>LLMs (</a:t>
            </a:r>
            <a:r>
              <a:rPr lang="el-GR" dirty="0"/>
              <a:t>τα τρία πρώτα).</a:t>
            </a:r>
          </a:p>
          <a:p>
            <a:endParaRPr lang="el-GR" dirty="0"/>
          </a:p>
          <a:p>
            <a:r>
              <a:rPr lang="el-GR" dirty="0"/>
              <a:t>4: εξετάζουμε τη συμπεριφορά των </a:t>
            </a:r>
            <a:r>
              <a:rPr lang="en-US" dirty="0"/>
              <a:t>LLMs</a:t>
            </a:r>
            <a:r>
              <a:rPr lang="el-GR" dirty="0"/>
              <a:t> σχετικά με ανταγωνισμό/συνεργασία κλπ.</a:t>
            </a:r>
          </a:p>
          <a:p>
            <a:r>
              <a:rPr lang="el-GR" dirty="0"/>
              <a:t>5: εξετάζουμε πώς χειρίζονται τα </a:t>
            </a:r>
            <a:r>
              <a:rPr lang="en-US" dirty="0"/>
              <a:t>LLMs </a:t>
            </a:r>
            <a:r>
              <a:rPr lang="el-GR" dirty="0"/>
              <a:t>τις </a:t>
            </a:r>
            <a:r>
              <a:rPr lang="el-GR" dirty="0" err="1"/>
              <a:t>εσωτερικευμένες</a:t>
            </a:r>
            <a:r>
              <a:rPr lang="el-GR" dirty="0"/>
              <a:t> τους προκαταλήψεις.</a:t>
            </a:r>
          </a:p>
          <a:p>
            <a:r>
              <a:rPr lang="el-GR" dirty="0"/>
              <a:t>6: ενισχύουμε υπάρχουσες απόψεις στον χώρο για την σχέση του μεγέθους των </a:t>
            </a:r>
            <a:r>
              <a:rPr lang="en-US" dirty="0"/>
              <a:t>LLMs </a:t>
            </a:r>
            <a:r>
              <a:rPr lang="el-GR" dirty="0"/>
              <a:t>με τις ικανότητές τους.</a:t>
            </a:r>
          </a:p>
          <a:p>
            <a:r>
              <a:rPr lang="el-GR" dirty="0"/>
              <a:t>7: κατασκευάσαμε ένα αρκετά </a:t>
            </a:r>
            <a:r>
              <a:rPr lang="el-GR" dirty="0" err="1"/>
              <a:t>παραμετροποιήσιμο</a:t>
            </a:r>
            <a:r>
              <a:rPr lang="el-GR" dirty="0"/>
              <a:t> </a:t>
            </a:r>
            <a:r>
              <a:rPr lang="en-US" dirty="0"/>
              <a:t>framework </a:t>
            </a:r>
            <a:r>
              <a:rPr lang="el-GR" dirty="0"/>
              <a:t>για πειράματα όπως τα δικά μας. Έχουμε εισαγάγει κάποιες μετρικές απόδοσης.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1403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= points / tokens. Cost is measured in total tokens used.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20478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33229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37333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CABD1-79D8-DC44-E2BE-2726D50F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D9C0C-5B02-99C0-637E-4EE42DA39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9BCCB-56AB-0F25-629A-81F97E777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mentioned compared GPT-{3, 3.5, 4} LLM agents in a variety of reasoning tasks. They included Rock-Paper-Scissors and came up with some player types of their own (loop-{2, 3}, counter, sample etc.). These players influenced the development of our own algorithmic players and gave rise to the pattern, </a:t>
            </a:r>
            <a:r>
              <a:rPr lang="en-US" dirty="0" err="1"/>
              <a:t>tft</a:t>
            </a:r>
            <a:r>
              <a:rPr lang="en-US" dirty="0"/>
              <a:t>, and </a:t>
            </a:r>
            <a:r>
              <a:rPr lang="en-US" dirty="0" err="1"/>
              <a:t>srep</a:t>
            </a:r>
            <a:r>
              <a:rPr lang="en-US" dirty="0"/>
              <a:t> players respectively.</a:t>
            </a:r>
            <a:endParaRPr lang="el-GR" dirty="0"/>
          </a:p>
          <a:p>
            <a:endParaRPr lang="el-GR" dirty="0"/>
          </a:p>
          <a:p>
            <a:r>
              <a:rPr lang="el-GR" dirty="0"/>
              <a:t>Ο </a:t>
            </a:r>
            <a:r>
              <a:rPr lang="en-US" dirty="0"/>
              <a:t>Adaptive Player </a:t>
            </a:r>
            <a:r>
              <a:rPr lang="el-GR" dirty="0"/>
              <a:t>κάνει </a:t>
            </a:r>
            <a:r>
              <a:rPr lang="en-US" dirty="0"/>
              <a:t>counter </a:t>
            </a:r>
            <a:r>
              <a:rPr lang="el-GR" dirty="0"/>
              <a:t>τις </a:t>
            </a:r>
            <a:r>
              <a:rPr lang="el-GR" dirty="0" err="1"/>
              <a:t>συνήθειές</a:t>
            </a:r>
            <a:r>
              <a:rPr lang="el-GR" dirty="0"/>
              <a:t> μας (την πιο συχνή κίνηση).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5AFE2-A3FC-B3D6-3D71-2CB0FC93A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6508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= </a:t>
            </a:r>
            <a:r>
              <a:rPr lang="el-GR" dirty="0"/>
              <a:t>περιλαμβάνει το </a:t>
            </a:r>
            <a:r>
              <a:rPr lang="en-US" dirty="0"/>
              <a:t>string </a:t>
            </a:r>
            <a:r>
              <a:rPr lang="el-GR" dirty="0"/>
              <a:t>της τεχνικής προτροπής</a:t>
            </a:r>
          </a:p>
          <a:p>
            <a:r>
              <a:rPr lang="en-US" dirty="0"/>
              <a:t>Game-description = </a:t>
            </a:r>
            <a:r>
              <a:rPr lang="el-GR" dirty="0"/>
              <a:t>περιλαμβάνει το </a:t>
            </a:r>
            <a:r>
              <a:rPr lang="en-US" dirty="0"/>
              <a:t>string </a:t>
            </a:r>
            <a:r>
              <a:rPr lang="el-GR" dirty="0"/>
              <a:t>της περιγραφής του παιγνίου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2746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C90C-0955-39E2-DA22-75B41C64A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95DF9-9522-5458-E053-69AE81DB9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138F0-E9C6-30C5-BF1D-973DC7376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77D20-044C-0068-A248-A6CEFD87C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3994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FBE9-6BE0-892A-AB66-3589CAA0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37B56-EF32-2397-E218-B006A1491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F07C0-E27C-FC84-9288-76A2D9863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Μπλε = παράμετροι αντιφατικού παιγνίου</a:t>
            </a:r>
          </a:p>
          <a:p>
            <a:r>
              <a:rPr lang="el-GR" dirty="0"/>
              <a:t>Κόκκινο = περιγραφή επικοινωνίας</a:t>
            </a:r>
          </a:p>
          <a:p>
            <a:r>
              <a:rPr lang="el-GR" dirty="0"/>
              <a:t>Πράσινο = Προτροπές/Συμβουλές προς τον παίκτη</a:t>
            </a:r>
          </a:p>
          <a:p>
            <a:endParaRPr lang="el-GR" dirty="0"/>
          </a:p>
          <a:p>
            <a:r>
              <a:rPr lang="el-GR" dirty="0"/>
              <a:t>Η περιγραφή του παιγνίου δεν περιέχει άμεση πληροφορία για το </a:t>
            </a:r>
            <a:r>
              <a:rPr lang="el-GR" dirty="0" err="1"/>
              <a:t>παιγνίο</a:t>
            </a:r>
            <a:r>
              <a:rPr lang="el-GR" dirty="0"/>
              <a:t> που παίζεται. Αφήνουμε τον παίκτη να το καταλάβει μόνος του.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FBA82-A304-C309-6773-A15CDE449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4486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2627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/>
              <a:t>Εδώ βλέπουμε ποσοστά συνεργασίας σε παιχνίδια LLM έναντι LLM μόνο.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Prisoner’s Dilemma move set: </a:t>
            </a:r>
            <a:r>
              <a:rPr lang="el-GR" dirty="0"/>
              <a:t>Συνεργασία = Συνεργασία.</a:t>
            </a:r>
            <a:endParaRPr lang="en-US" dirty="0"/>
          </a:p>
          <a:p>
            <a:r>
              <a:rPr lang="en-US" dirty="0"/>
              <a:t>Stag Hunt move set: </a:t>
            </a:r>
            <a:r>
              <a:rPr lang="el-GR" dirty="0"/>
              <a:t>Συνεργασία = Ελάφι/</a:t>
            </a:r>
            <a:r>
              <a:rPr lang="en-US" dirty="0"/>
              <a:t>Stag</a:t>
            </a:r>
            <a:r>
              <a:rPr lang="el-GR" dirty="0"/>
              <a:t> (Η κίνηση που είναι «πιο ριψοκίνδυνη» αλλά έχει το μεγαλύτερο κέρδος).</a:t>
            </a:r>
            <a:endParaRPr lang="en-US" dirty="0"/>
          </a:p>
          <a:p>
            <a:endParaRPr lang="en-US" dirty="0"/>
          </a:p>
          <a:p>
            <a:r>
              <a:rPr lang="el-GR" dirty="0"/>
              <a:t>Οι παραλλαγές «</a:t>
            </a:r>
            <a:r>
              <a:rPr lang="el-GR" dirty="0" err="1"/>
              <a:t>Thinking</a:t>
            </a:r>
            <a:r>
              <a:rPr lang="el-GR" dirty="0"/>
              <a:t>» έδωσαν παρόμοια αποτελέσματα με τις μη «</a:t>
            </a:r>
            <a:r>
              <a:rPr lang="el-GR" dirty="0" err="1"/>
              <a:t>Thinking</a:t>
            </a:r>
            <a:r>
              <a:rPr lang="el-GR" dirty="0"/>
              <a:t>» εκδόσεις τους.</a:t>
            </a:r>
            <a:endParaRPr lang="en-US" dirty="0"/>
          </a:p>
          <a:p>
            <a:endParaRPr lang="en-US" dirty="0"/>
          </a:p>
          <a:p>
            <a:r>
              <a:rPr lang="en-US" dirty="0"/>
              <a:t>Earlier work: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Ένα </a:t>
            </a:r>
            <a:r>
              <a:rPr lang="en-US" dirty="0"/>
              <a:t>paper </a:t>
            </a:r>
            <a:r>
              <a:rPr lang="el-GR" dirty="0"/>
              <a:t>με </a:t>
            </a:r>
            <a:r>
              <a:rPr lang="en-US" dirty="0"/>
              <a:t>GPT 3.5 </a:t>
            </a:r>
            <a:r>
              <a:rPr lang="el-GR" dirty="0"/>
              <a:t>δίνει 65.4% συνεργασία για το</a:t>
            </a:r>
            <a:r>
              <a:rPr lang="en-US" dirty="0"/>
              <a:t> PD </a:t>
            </a:r>
            <a:r>
              <a:rPr lang="el-GR" dirty="0"/>
              <a:t>ενός γύρου.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Εμείς πετυχαίνουμε 80-100% συνεργασία (και 10-30% για τα </a:t>
            </a:r>
            <a:r>
              <a:rPr lang="en-US" dirty="0"/>
              <a:t>Claude Sonnet 4, DeepSeek-R1).</a:t>
            </a:r>
            <a:endParaRPr lang="el-G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Q-learners </a:t>
            </a:r>
            <a:r>
              <a:rPr lang="el-GR" dirty="0"/>
              <a:t>(</a:t>
            </a:r>
            <a:r>
              <a:rPr lang="en-US" dirty="0"/>
              <a:t>LASE agents) </a:t>
            </a:r>
            <a:r>
              <a:rPr lang="el-GR" dirty="0"/>
              <a:t>έμαθαν να παίζουν με παρόμοια ποσοστά με εμάς.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dirty="0"/>
              <a:t>Η συναισθηματική κατάσταση επηρεάζει τις επιλογές των </a:t>
            </a:r>
            <a:r>
              <a:rPr lang="en-US" dirty="0"/>
              <a:t>LLMs.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l-GR" b="1" dirty="0" err="1"/>
              <a:t>Αναπαράγαμε</a:t>
            </a:r>
            <a:r>
              <a:rPr lang="el-GR" b="1" dirty="0"/>
              <a:t> το</a:t>
            </a:r>
            <a:r>
              <a:rPr lang="en-US" b="1" dirty="0"/>
              <a:t> cooperation trend</a:t>
            </a:r>
            <a:r>
              <a:rPr lang="en-US" dirty="0"/>
              <a:t>: </a:t>
            </a:r>
            <a:r>
              <a:rPr lang="el-GR" dirty="0"/>
              <a:t> Τα υψηλότερα ποσοστά συνεργασίας υποδηλώνουν εμπιστοσύνη και κοινή συνείδηση – τα LLM συχνά συλλογίζονταν ότι η αμοιβαία συνεργασία ωφελεί και τους δύο παίκτες.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9892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AE0AE-A424-AFB3-9BB6-A9A85003B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E0F0A-8DFF-F46D-D7C4-06C97A02F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F76F6-F896-3701-DFC3-D4EECCECF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Nash Equilibrium behavior</a:t>
            </a:r>
            <a:r>
              <a:rPr lang="en-US" dirty="0"/>
              <a:t>: LLMs scored near the expected mixed-strategy equilibrium against the </a:t>
            </a:r>
            <a:r>
              <a:rPr lang="en-US" dirty="0" err="1"/>
              <a:t>srep</a:t>
            </a:r>
            <a:r>
              <a:rPr lang="en-US" dirty="0"/>
              <a:t> players; biases fade in repeated play.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Model size effect</a:t>
            </a:r>
            <a:r>
              <a:rPr lang="en-US" dirty="0"/>
              <a:t>: Larger LLMs showed less cooperation and slower convergence – possible over-analysis on simple tasks.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Prompt complexity effect</a:t>
            </a:r>
            <a:r>
              <a:rPr lang="en-US" dirty="0"/>
              <a:t>: Smaller models improved with more complex prompting; larger ones did not benefit.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TFT benchmark insight: </a:t>
            </a:r>
            <a:r>
              <a:rPr lang="en-US" dirty="0"/>
              <a:t>LLMs can both </a:t>
            </a:r>
            <a:r>
              <a:rPr lang="en-US" i="1" dirty="0"/>
              <a:t>maintain</a:t>
            </a:r>
            <a:r>
              <a:rPr lang="en-US" dirty="0"/>
              <a:t> and </a:t>
            </a:r>
            <a:r>
              <a:rPr lang="en-US" i="1" dirty="0"/>
              <a:t>adapt</a:t>
            </a:r>
            <a:r>
              <a:rPr lang="en-US" dirty="0"/>
              <a:t> strategies based on opponent behavior – evidence of situational reasoning.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Other Conclusions: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Efficiency trade-off</a:t>
            </a:r>
            <a:r>
              <a:rPr lang="en-US" dirty="0"/>
              <a:t>: Higher prompt complexity reduced efficiency (contrast expected in </a:t>
            </a:r>
            <a:r>
              <a:rPr lang="en-US" i="1" dirty="0"/>
              <a:t>Rock-Paper-Scissors</a:t>
            </a:r>
            <a:r>
              <a:rPr lang="en-US" dirty="0"/>
              <a:t> due to its higher difficulty).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1DEA0-B997-B770-4B52-D69B891A0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5517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08EA-FD68-672B-D263-42A5A371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FF3A8-FE8E-BBE3-8F04-EDB1D1A23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86BF6-FC4A-E47E-71A5-8D0965BBC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Nash Equilibrium behavior</a:t>
            </a:r>
            <a:r>
              <a:rPr lang="en-US" dirty="0"/>
              <a:t>: LLMs scored near the expected mixed-strategy equilibrium against the </a:t>
            </a:r>
            <a:r>
              <a:rPr lang="en-US" dirty="0" err="1"/>
              <a:t>srep</a:t>
            </a:r>
            <a:r>
              <a:rPr lang="en-US" dirty="0"/>
              <a:t> players; biases fade in repeated play.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Model size effect</a:t>
            </a:r>
            <a:r>
              <a:rPr lang="en-US" dirty="0"/>
              <a:t>: Larger LLMs showed less cooperation and slower convergence – possible over-analysis on simple tasks.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Prompt complexity effect</a:t>
            </a:r>
            <a:r>
              <a:rPr lang="en-US" dirty="0"/>
              <a:t>: Smaller models improved with more complex prompting; larger ones did not benefit.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TFT benchmark insight: </a:t>
            </a:r>
            <a:r>
              <a:rPr lang="en-US" dirty="0"/>
              <a:t>LLMs can both </a:t>
            </a:r>
            <a:r>
              <a:rPr lang="en-US" i="1" dirty="0"/>
              <a:t>maintain</a:t>
            </a:r>
            <a:r>
              <a:rPr lang="en-US" dirty="0"/>
              <a:t> and </a:t>
            </a:r>
            <a:r>
              <a:rPr lang="en-US" i="1" dirty="0"/>
              <a:t>adapt</a:t>
            </a:r>
            <a:r>
              <a:rPr lang="en-US" dirty="0"/>
              <a:t> strategies based on opponent behavior – evidence of situational reasoning.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Other Conclusions: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Efficiency trade-off</a:t>
            </a:r>
            <a:r>
              <a:rPr lang="en-US" dirty="0"/>
              <a:t>: Higher prompt complexity reduced efficiency (contrast expected in </a:t>
            </a:r>
            <a:r>
              <a:rPr lang="en-US" i="1" dirty="0"/>
              <a:t>Rock-Paper-Scissors</a:t>
            </a:r>
            <a:r>
              <a:rPr lang="en-US" dirty="0"/>
              <a:t> due to its higher difficulty).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7600A-B227-89BC-9776-019B3D5C2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6799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FA31-C2DF-D934-7B99-3658E16E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7E8F1-4475-5D9D-D76D-8C2C3DBBD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4CA3F-300B-6E46-8484-F96E42D5A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TODO: </a:t>
            </a:r>
            <a:r>
              <a:rPr lang="el-GR" b="0" dirty="0"/>
              <a:t>Να αναφέρω λίγο και το </a:t>
            </a:r>
            <a:r>
              <a:rPr lang="en-US" b="0" dirty="0"/>
              <a:t>paper </a:t>
            </a:r>
            <a:r>
              <a:rPr lang="el-GR" b="0" dirty="0"/>
              <a:t>με τους παίκτες για το </a:t>
            </a:r>
            <a:r>
              <a:rPr lang="en-US" b="0" dirty="0"/>
              <a:t>RPS inspiration </a:t>
            </a:r>
            <a:r>
              <a:rPr lang="el-GR" b="0" dirty="0" err="1"/>
              <a:t>κλπ</a:t>
            </a:r>
            <a:r>
              <a:rPr lang="el-GR" b="0" dirty="0"/>
              <a:t>…</a:t>
            </a:r>
            <a:endParaRPr lang="en-GB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Prompt complexity advantage</a:t>
            </a:r>
            <a:r>
              <a:rPr lang="en-GB" dirty="0"/>
              <a:t>: Complex prompts (SPP, </a:t>
            </a:r>
            <a:r>
              <a:rPr lang="en-GB" dirty="0" err="1"/>
              <a:t>CoT</a:t>
            </a:r>
            <a:r>
              <a:rPr lang="en-GB" dirty="0"/>
              <a:t>, Self-Consistency) outperform simpler Zero-Shot setups when facing them.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Nash equilibrium </a:t>
            </a:r>
            <a:r>
              <a:rPr lang="en-GB" b="1" dirty="0" err="1"/>
              <a:t>behavior</a:t>
            </a:r>
            <a:r>
              <a:rPr lang="en-GB" dirty="0"/>
              <a:t>: LLMs score near 0 vs </a:t>
            </a:r>
            <a:r>
              <a:rPr lang="en-GB" dirty="0" err="1"/>
              <a:t>srep</a:t>
            </a:r>
            <a:r>
              <a:rPr lang="en-GB" dirty="0"/>
              <a:t> player (expected under mixed-strategy Nash equilibrium).→ Biases from single-round play dissipate in repeated games.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Model &amp; prompt interaction</a:t>
            </a:r>
            <a:r>
              <a:rPr lang="en-GB" dirty="0"/>
              <a:t>: Simpler LLMs perform worse; complex prompting improves results. Thinking variants (Claude models) showed more confusion.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TFT benchmark insight</a:t>
            </a:r>
            <a:r>
              <a:rPr lang="en-GB" dirty="0"/>
              <a:t>: (Strategy) Counterfactual setups degrade reasoning. LLMs succeed vs TFT only under typical (non-counterfactual) rules. Many misinterpreted TFT as mirroring, leading to repetitive ties and low scores.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Other Conclusions: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Efficiency findings</a:t>
            </a:r>
            <a:r>
              <a:rPr lang="en-GB" dirty="0"/>
              <a:t>: Complex prompts generally improve efficiency. Self-Consistency’s gains don’t justify its token cost. Thinking models achieve similar or slightly better efficiency overall.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E2B4D-B303-54D8-67D5-E7ED22CAC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56015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0186-1337-FF0A-B367-34842816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A09DC-D251-B4C8-0C30-27519DFF5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757D7-710E-CB5F-C610-F4475FF6B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Prompt complexity advantage</a:t>
            </a:r>
            <a:r>
              <a:rPr lang="en-GB" dirty="0"/>
              <a:t>: Complex prompts (SPP, </a:t>
            </a:r>
            <a:r>
              <a:rPr lang="en-GB" dirty="0" err="1"/>
              <a:t>CoT</a:t>
            </a:r>
            <a:r>
              <a:rPr lang="en-GB" dirty="0"/>
              <a:t>, Self-Consistency) outperform simpler Zero-Shot setups when facing them.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Nash equilibrium </a:t>
            </a:r>
            <a:r>
              <a:rPr lang="en-GB" b="1" dirty="0" err="1"/>
              <a:t>behavior</a:t>
            </a:r>
            <a:r>
              <a:rPr lang="en-GB" dirty="0"/>
              <a:t>: LLMs score near 0 vs </a:t>
            </a:r>
            <a:r>
              <a:rPr lang="en-GB" dirty="0" err="1"/>
              <a:t>srep</a:t>
            </a:r>
            <a:r>
              <a:rPr lang="en-GB" dirty="0"/>
              <a:t> player (expected under mixed-strategy Nash equilibrium).→ Biases from single-round play dissipate in repeated games.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Model &amp; prompt interaction</a:t>
            </a:r>
            <a:r>
              <a:rPr lang="en-GB" dirty="0"/>
              <a:t>: Simpler LLMs perform worse; complex prompting improves results. Thinking variants (Claude models) showed more confusion.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TFT benchmark insight</a:t>
            </a:r>
            <a:r>
              <a:rPr lang="en-GB" dirty="0"/>
              <a:t>: (Strategy) Counterfactual setups degrade reasoning. LLMs succeed vs TFT only under typical (non-counterfactual) rules. Many misinterpreted TFT as mirroring, leading to repetitive ties and low scores.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Other Conclusions: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Efficiency findings</a:t>
            </a:r>
            <a:r>
              <a:rPr lang="en-GB" dirty="0"/>
              <a:t>: Complex prompts generally improve efficiency. Self-Consistency’s gains don’t justify its token cost. Thinking models achieve similar or slightly better efficiency overall.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TFT = Tit-for-Tat player = Counter player = Vindictive player.</a:t>
            </a:r>
            <a:endParaRPr lang="LID4096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LID4096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1274A-C968-5AE9-A0D8-C20A7EB70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14911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Αντιφατική συλλογιστική</a:t>
            </a:r>
            <a:r>
              <a:rPr lang="el-GR" dirty="0"/>
              <a:t>: Τα περισσότερα σύγχρονα μοντέλα χειρίστηκαν αποτελεσματικά τα αντιφατικά παιχνίδια, με μόνο τα μικρότερα/παλαιότερα να παρουσιάζουν σημαντικές δυσκολίες.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Συνεργασία και κοινωνική συλλογιστική</a:t>
            </a:r>
            <a:r>
              <a:rPr lang="el-GR" dirty="0"/>
              <a:t>: Τα LLM αναπαρήγαγαν συνεργατικές συμπεριφορές που είχαν παρατηρηθεί σε προηγούμενες έρευνες — συχνά σκέπτονται τη μεγιστοποίηση των κοινών αποδόσεων.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Άρση προκαταλήψεων σε επαναλαμβανόμενα παιχνίδια</a:t>
            </a:r>
            <a:r>
              <a:rPr lang="el-GR" dirty="0"/>
              <a:t>: Οι προκαταλήψεις που παρατηρήθηκαν σε παιχνίδια ενός γύρου μειώνονται με τις επαναλαμβανόμενες αλληλεπιδράσεις. Τα LLM προσαρμόζονται στη συμπεριφορά </a:t>
            </a:r>
            <a:r>
              <a:rPr lang="el-GR" dirty="0" err="1"/>
              <a:t>Nash</a:t>
            </a:r>
            <a:r>
              <a:rPr lang="el-GR" dirty="0"/>
              <a:t> μικτής στρατηγικής όταν υπάρχει ιστορικό.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Μέγεθος μοντέλου και πολυπλοκότητα προτροπής</a:t>
            </a:r>
            <a:r>
              <a:rPr lang="el-GR" dirty="0"/>
              <a:t>: Τα μεγαλύτερα LLM είχαν την τάση να αναλύουν υπερβολικά απλές εργασίες, ενώ τα μικρότερα επωφελούνταν από δομημένες προτροπές. Η απόδοση εξαρτάται από την αντιστοίχιση του μοντέλου με την πολυπλοκότητα της εργασίας.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Προσαρμογή στρατηγικής</a:t>
            </a:r>
            <a:r>
              <a:rPr lang="el-GR" dirty="0"/>
              <a:t>: Ενάντια σε εκδικητικούς αντιπάλους (</a:t>
            </a:r>
            <a:r>
              <a:rPr lang="el-GR" dirty="0" err="1"/>
              <a:t>Tit</a:t>
            </a:r>
            <a:r>
              <a:rPr lang="el-GR" dirty="0"/>
              <a:t>-for-</a:t>
            </a:r>
            <a:r>
              <a:rPr lang="el-GR" dirty="0" err="1"/>
              <a:t>Tat</a:t>
            </a:r>
            <a:r>
              <a:rPr lang="el-GR" dirty="0"/>
              <a:t>), τα LLM έδειξαν αμοιβαίες και προσαρμοστικές στρατηγικές, βελτιώνοντας δυναμικά τη συμπεριφορά τους κατά την </a:t>
            </a:r>
            <a:r>
              <a:rPr lang="el-GR" dirty="0" err="1"/>
              <a:t>έξελιξη</a:t>
            </a:r>
            <a:r>
              <a:rPr lang="el-GR" dirty="0"/>
              <a:t> του παιγνίου.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Αποδοτικότητα προτροπής</a:t>
            </a:r>
            <a:r>
              <a:rPr lang="el-GR" dirty="0"/>
              <a:t>: Οι δομημένες προτροπές (</a:t>
            </a:r>
            <a:r>
              <a:rPr lang="el-GR" dirty="0" err="1"/>
              <a:t>CoT</a:t>
            </a:r>
            <a:r>
              <a:rPr lang="el-GR" dirty="0"/>
              <a:t>, SPP, </a:t>
            </a:r>
            <a:r>
              <a:rPr lang="el-GR" dirty="0" err="1"/>
              <a:t>Self-Consistency</a:t>
            </a:r>
            <a:r>
              <a:rPr lang="el-GR" dirty="0"/>
              <a:t>) βελτίωσαν την αποδοτικότητα σε μικρότερα μοντέλα, αλλά πρόσθεσαν επιπλέον κόστος σε μεγαλύτερα μοντέλα. Η </a:t>
            </a:r>
            <a:r>
              <a:rPr lang="el-GR" dirty="0" err="1"/>
              <a:t>Self-Consistency</a:t>
            </a:r>
            <a:r>
              <a:rPr lang="el-GR" dirty="0"/>
              <a:t> συχνά δεν είναι οικονομικά αποδοτική.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l-GR" b="1" dirty="0"/>
              <a:t>Παραλλαγές μοντέλων «σκέψης»</a:t>
            </a:r>
            <a:r>
              <a:rPr lang="el-GR" dirty="0"/>
              <a:t>: Τα LLM «σκέψης» μερικές φορές υπερείχαν των προεπιλογών, αλλά έδειξαν επίσης μεγαλύτερη σύγχυση, αντανακλώντας πρόσφατες ανησυχίες σχετικά με την εύθραυστη συλλογιστική τους.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2534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Human vs. LLM Interactions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: </a:t>
            </a:r>
            <a:r>
              <a:rPr lang="el-GR" sz="1400" dirty="0"/>
              <a:t>Μελλοντικά πειράματα θα μπορούσαν να περιλαμβάνουν ανθρώπους που παίζουν εναντίον LLM σε επαναλαμβανόμενα σενάρια, με σκοπό τη μελέτη της ευθυγράμμισης απόψεων, της εξαπάτησης, της πειθούς και του χτισίματος εμπιστοσύνης.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Multi-agent and Multi-round Games with Communication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: </a:t>
            </a:r>
            <a:r>
              <a:rPr lang="el-GR" sz="1400" dirty="0"/>
              <a:t>Η άμεση επικοινωνία μεταξύ των πρακτόρων ανοίγει ερωτήματα σχετικά με τη διαπραγμάτευση, την εξαπάτηση και τον αναδυόμενο συντονισμό. Η διερεύνηση του κατά πόσον τα LLM μπορούν να μάθουν να χρησιμοποιούν τη γλώσσα στρατηγικά για να επηρεάσουν τα αποτελέσματα — ή να αναγνωρίζουν πότε το κάνουν άλλοι — θα μπορούσε να προσφέρει πληροφορίες σχετικά με την πρακτική τους ικανότητα σε περιβάλλοντα θεωρίας παιγνίων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Scaling Behavioral Traits with Model Size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: </a:t>
            </a:r>
            <a:r>
              <a:rPr lang="el-GR" sz="1400" dirty="0"/>
              <a:t>Τα μεγαλύτερα μοντέλα έδειξαν μια τάση προς </a:t>
            </a:r>
            <a:r>
              <a:rPr lang="el-GR" sz="1400" dirty="0" err="1"/>
              <a:t>υπεράναλυση</a:t>
            </a:r>
            <a:r>
              <a:rPr lang="el-GR" sz="1400" dirty="0"/>
              <a:t> και καθυστερημένη συνεργασία. Μια συστηματική έρευνα για το πώς οι συμπεριφορές κλιμακώνονται με το μέγεθος του μοντέλου — ειδικά σε σενάρια </a:t>
            </a:r>
            <a:r>
              <a:rPr lang="el-GR" sz="1400" dirty="0" err="1"/>
              <a:t>zero-shot</a:t>
            </a:r>
            <a:r>
              <a:rPr lang="el-GR" sz="1400" dirty="0"/>
              <a:t> έναντι σεναρίων προχωρημένων τεχνικών προτροπής — θα μπορούσε να διαφωτίσει το αν η αυξημένη ικανότητα βοηθά ή εμποδίζει τη στρατηγική λήψη αποφάσεων.</a:t>
            </a: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Longer Games and Memory Integration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: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 Τα πειράματα μας ήταν σχετικά μικρής διάρκειας. Η αύξηση του μήκους παιγνίου ή η εισαγωγή μηχανισμών μνήμης (π.χ.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Memory modules 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ή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memory APIs </a:t>
            </a:r>
            <a:r>
              <a:rPr kumimoji="0" lang="el-GR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κλπ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) ίσως μας βοηθήσει να καταλάβουμε αν τα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LLMs 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αναπτύσσουν μακροπρόθεσμες στρατηγικές, μαθαίνουν τους αντίπαλους καλύτερα ή αναπαράγουν </a:t>
            </a:r>
            <a:r>
              <a:rPr kumimoji="0" lang="el-GR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συμπεριφορικές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 δεσμεύσεις για μεγάλη χρονική διάρκεια (π.χ. εμπιστοσύνη ή εκδικητικότητα).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Pct val="87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Formalizing Benchmarks for Rationality in LLMs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: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 Υπάρχει ανάγκη για ένα τυποποιημένη πλαίσιο αξιολόγησης πρακτόρων σε τέτοια </a:t>
            </a:r>
            <a:r>
              <a:rPr kumimoji="0" lang="el-GR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παιγνία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, το οποίο υπερβαίνει την απλή καταμέτρηση πόντων. Έτσι θα μπορεί να αξιολογείται αν τα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LLMs </a:t>
            </a:r>
            <a:r>
              <a:rPr kumimoji="0" lang="el-G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ndview Display"/>
                <a:ea typeface="+mn-ea"/>
                <a:cs typeface="+mn-cs"/>
              </a:rPr>
              <a:t>επιδεικνύουν ορθολογική, συνεργατική ή προσαρμοστική συμπεριφορά.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C3D27-C8BC-4996-9EAE-43C160E4FE78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714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1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03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46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3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7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9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3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9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3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81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363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AB507-E380-773E-8BFD-32A136995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/>
              <a:t>Probing LLM Counterfactual Reasoning in Game Theory</a:t>
            </a:r>
            <a:endParaRPr lang="LID4096" sz="49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23C1F-BE7C-79B2-28E9-AF30EA821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/>
              <a:t>Dimitrios Georgousis, diploma thesis at AILS, ECE NTUA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D7D74-7A64-5736-1D12-8F758BC1FD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056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597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5C06C-3AD9-571F-8C37-E6B9B5A35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502152" cy="3591463"/>
          </a:xfrm>
        </p:spPr>
        <p:txBody>
          <a:bodyPr anchor="t">
            <a:normAutofit/>
          </a:bodyPr>
          <a:lstStyle/>
          <a:p>
            <a:r>
              <a:rPr lang="en-US"/>
              <a:t>Contents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EFFD-D942-B072-A5F0-1A35F5E5E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664" y="1371601"/>
            <a:ext cx="6620256" cy="4926318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  <a:p>
            <a:r>
              <a:rPr lang="en-US" dirty="0"/>
              <a:t>Related Work</a:t>
            </a:r>
          </a:p>
          <a:p>
            <a:r>
              <a:rPr lang="en-US" dirty="0"/>
              <a:t>Background</a:t>
            </a:r>
          </a:p>
          <a:p>
            <a:r>
              <a:rPr lang="en-US" dirty="0"/>
              <a:t>Contributions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Future Work</a:t>
            </a:r>
          </a:p>
          <a:p>
            <a:endParaRPr lang="en-US" dirty="0"/>
          </a:p>
          <a:p>
            <a:endParaRPr lang="LID4096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15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F4F76-90C9-C43F-27E8-700CA300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Motivation</a:t>
            </a:r>
            <a:endParaRPr lang="LID4096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8C1E94-531A-4226-2C1D-13432C0508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022296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896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91C19-E55F-7B39-46A6-A663C0C7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Related Work &amp; Where we fit in</a:t>
            </a:r>
            <a:endParaRPr lang="LID4096" sz="3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82488FE-A2E5-1C09-9CD7-040F16067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Previous studies: LLMs and AI used in reasoning, prompting, and multi-agent interactions.</a:t>
            </a:r>
          </a:p>
          <a:p>
            <a:pPr>
              <a:lnSpc>
                <a:spcPct val="110000"/>
              </a:lnSpc>
            </a:pPr>
            <a:r>
              <a:rPr lang="en-US"/>
              <a:t>Limited focus on Counterfactual Reasoning in Game Theory.</a:t>
            </a:r>
          </a:p>
          <a:p>
            <a:pPr>
              <a:lnSpc>
                <a:spcPct val="110000"/>
              </a:lnSpc>
            </a:pPr>
            <a:r>
              <a:rPr lang="en-US"/>
              <a:t>Our work:</a:t>
            </a:r>
          </a:p>
          <a:p>
            <a:pPr lvl="1">
              <a:lnSpc>
                <a:spcPct val="110000"/>
              </a:lnSpc>
            </a:pPr>
            <a:r>
              <a:rPr lang="en-US"/>
              <a:t>We adapt the experiment environment, opponent types, and prompting techniques from other work.</a:t>
            </a:r>
          </a:p>
          <a:p>
            <a:pPr lvl="1">
              <a:lnSpc>
                <a:spcPct val="110000"/>
              </a:lnSpc>
            </a:pPr>
            <a:r>
              <a:rPr lang="en-US"/>
              <a:t>We systematically study LLMs in repeated two-player games.</a:t>
            </a:r>
            <a:endParaRPr lang="LID4096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2450E267-DAE2-72E3-E507-F279F027A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5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834A9-6272-66C9-CE76-115A4F4A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Background: LLMs &amp; Reasoning</a:t>
            </a:r>
            <a:endParaRPr lang="LID4096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7B24C2-21AA-1272-CE89-159852A3CF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03392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845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B26A8-5F18-EA2A-5A62-9617C461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GB" sz="3600" b="0"/>
              <a:t>Background: Game Theory</a:t>
            </a:r>
            <a:endParaRPr lang="LID4096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DCA735-43C1-1703-708B-1C1DA98D7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0358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09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0734-F1C1-A241-F6CA-214C4746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Background: Payoff Matrix &amp; Counterfactual Scenarios</a:t>
            </a:r>
            <a:endParaRPr lang="LID4096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4E26-62A7-D72D-2989-8FFAC9ED7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2" y="2237668"/>
            <a:ext cx="9390374" cy="73061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Payoff Counterfactual</a:t>
            </a:r>
            <a:r>
              <a:rPr lang="en-US" dirty="0"/>
              <a:t>: modify payoff values</a:t>
            </a:r>
          </a:p>
          <a:p>
            <a:r>
              <a:rPr lang="en-US" b="1" dirty="0"/>
              <a:t>Strategy Counterfactual</a:t>
            </a:r>
            <a:r>
              <a:rPr lang="en-US" dirty="0"/>
              <a:t>: modify strategies (their names or their effects).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09C786-2F20-797C-34DF-8AC657630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649497"/>
              </p:ext>
            </p:extLst>
          </p:nvPr>
        </p:nvGraphicFramePr>
        <p:xfrm>
          <a:off x="760283" y="3457520"/>
          <a:ext cx="2449548" cy="811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134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803134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</a:tblGrid>
              <a:tr h="293563">
                <a:tc>
                  <a:txBody>
                    <a:bodyPr/>
                    <a:lstStyle/>
                    <a:p>
                      <a:r>
                        <a:rPr lang="en-US" sz="1100" dirty="0"/>
                        <a:t>pd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Cooperate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Defect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43538">
                <a:tc>
                  <a:txBody>
                    <a:bodyPr/>
                    <a:lstStyle/>
                    <a:p>
                      <a:r>
                        <a:rPr lang="en-US" sz="1100" dirty="0"/>
                        <a:t>Cooperate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(4, 4)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(1, 6)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43538">
                <a:tc>
                  <a:txBody>
                    <a:bodyPr/>
                    <a:lstStyle/>
                    <a:p>
                      <a:r>
                        <a:rPr lang="en-US" sz="1100" dirty="0"/>
                        <a:t>Defect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(6, 1)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(2, 2)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39291C-7546-C068-A084-444B25966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060391"/>
              </p:ext>
            </p:extLst>
          </p:nvPr>
        </p:nvGraphicFramePr>
        <p:xfrm>
          <a:off x="3335976" y="3457520"/>
          <a:ext cx="2020203" cy="828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401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73401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673401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</a:tblGrid>
              <a:tr h="276146">
                <a:tc>
                  <a:txBody>
                    <a:bodyPr/>
                    <a:lstStyle/>
                    <a:p>
                      <a:r>
                        <a:rPr lang="en-US" sz="1100" dirty="0" err="1"/>
                        <a:t>sh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Stag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Hare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Stag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(6, 6)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(1, 4)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Hare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(4, 1)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(2, 2)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0877FA-0104-A789-7351-5DD0F270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897807"/>
              </p:ext>
            </p:extLst>
          </p:nvPr>
        </p:nvGraphicFramePr>
        <p:xfrm>
          <a:off x="3335976" y="4386575"/>
          <a:ext cx="2020203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401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73401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673401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r>
                        <a:rPr lang="en-US" sz="1100" dirty="0" err="1"/>
                        <a:t>sh</a:t>
                      </a:r>
                      <a:r>
                        <a:rPr lang="en-US" sz="1100" dirty="0"/>
                        <a:t>-alt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Stag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Hare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100" dirty="0"/>
                        <a:t>Stag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(4, 4)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(1, 6)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r>
                        <a:rPr lang="en-US" sz="1100" dirty="0"/>
                        <a:t>Hare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(6, 1)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(2, 2)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60051C-D1BC-3A93-CF0F-7349B1E58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624474"/>
              </p:ext>
            </p:extLst>
          </p:nvPr>
        </p:nvGraphicFramePr>
        <p:xfrm>
          <a:off x="760284" y="4390712"/>
          <a:ext cx="24495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116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833116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783314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</a:tblGrid>
              <a:tr h="247999">
                <a:tc>
                  <a:txBody>
                    <a:bodyPr/>
                    <a:lstStyle/>
                    <a:p>
                      <a:r>
                        <a:rPr lang="en-US" sz="1100" dirty="0"/>
                        <a:t>pd-alt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Cooperate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Defect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en-US" sz="1100" dirty="0"/>
                        <a:t>Cooperate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(6, 6)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(1, 4)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47999">
                <a:tc>
                  <a:txBody>
                    <a:bodyPr/>
                    <a:lstStyle/>
                    <a:p>
                      <a:r>
                        <a:rPr lang="en-US" sz="1100" dirty="0"/>
                        <a:t>Defect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(4, 1)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(2, 2)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5C8BEBE-BB66-CFAE-BADE-2C31953DF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30263"/>
              </p:ext>
            </p:extLst>
          </p:nvPr>
        </p:nvGraphicFramePr>
        <p:xfrm>
          <a:off x="5822946" y="3429000"/>
          <a:ext cx="2669841" cy="110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  <a:gridCol w="733726">
                  <a:extLst>
                    <a:ext uri="{9D8B030D-6E8A-4147-A177-3AD203B41FA5}">
                      <a16:colId xmlns:a16="http://schemas.microsoft.com/office/drawing/2014/main" val="881198012"/>
                    </a:ext>
                  </a:extLst>
                </a:gridCol>
              </a:tblGrid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eq1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49944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E75F067-5BFD-7542-A769-0F4FB1237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295015"/>
              </p:ext>
            </p:extLst>
          </p:nvPr>
        </p:nvGraphicFramePr>
        <p:xfrm>
          <a:off x="5822946" y="4716194"/>
          <a:ext cx="2669841" cy="110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  <a:gridCol w="733726">
                  <a:extLst>
                    <a:ext uri="{9D8B030D-6E8A-4147-A177-3AD203B41FA5}">
                      <a16:colId xmlns:a16="http://schemas.microsoft.com/office/drawing/2014/main" val="881198012"/>
                    </a:ext>
                  </a:extLst>
                </a:gridCol>
              </a:tblGrid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ba3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(-3, 3)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(3, -3)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499448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CE312B-043A-17FD-616C-D2A1603ED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043426"/>
              </p:ext>
            </p:extLst>
          </p:nvPr>
        </p:nvGraphicFramePr>
        <p:xfrm>
          <a:off x="8676933" y="3429000"/>
          <a:ext cx="2669841" cy="110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  <a:gridCol w="733726">
                  <a:extLst>
                    <a:ext uri="{9D8B030D-6E8A-4147-A177-3AD203B41FA5}">
                      <a16:colId xmlns:a16="http://schemas.microsoft.com/office/drawing/2014/main" val="881198012"/>
                    </a:ext>
                  </a:extLst>
                </a:gridCol>
              </a:tblGrid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eq1-alt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49944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7EDA70C-1F47-6372-877F-8DC4EDD16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71716"/>
              </p:ext>
            </p:extLst>
          </p:nvPr>
        </p:nvGraphicFramePr>
        <p:xfrm>
          <a:off x="8676932" y="4716194"/>
          <a:ext cx="2669841" cy="110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123462476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542582005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3983868572"/>
                    </a:ext>
                  </a:extLst>
                </a:gridCol>
                <a:gridCol w="733726">
                  <a:extLst>
                    <a:ext uri="{9D8B030D-6E8A-4147-A177-3AD203B41FA5}">
                      <a16:colId xmlns:a16="http://schemas.microsoft.com/office/drawing/2014/main" val="881198012"/>
                    </a:ext>
                  </a:extLst>
                </a:gridCol>
              </a:tblGrid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ba3-alt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02930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Paper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(-3, 3)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486724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Rock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(3, -3)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6622"/>
                  </a:ext>
                </a:extLst>
              </a:tr>
              <a:tr h="276146">
                <a:tc>
                  <a:txBody>
                    <a:bodyPr/>
                    <a:lstStyle/>
                    <a:p>
                      <a:r>
                        <a:rPr lang="en-US" sz="1100" dirty="0"/>
                        <a:t>Scissors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(-1, 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(1, -1)</a:t>
                      </a:r>
                      <a:endParaRPr lang="LID4096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(0, 0)</a:t>
                      </a:r>
                      <a:endParaRPr lang="LID4096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499448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F50E42-EF71-8472-1ADD-2A3A2C669EF3}"/>
              </a:ext>
            </a:extLst>
          </p:cNvPr>
          <p:cNvSpPr/>
          <p:nvPr/>
        </p:nvSpPr>
        <p:spPr>
          <a:xfrm>
            <a:off x="6552434" y="3395686"/>
            <a:ext cx="1213074" cy="3216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C50DFC-9472-F640-99A9-BFC27DBE7AC0}"/>
              </a:ext>
            </a:extLst>
          </p:cNvPr>
          <p:cNvSpPr/>
          <p:nvPr/>
        </p:nvSpPr>
        <p:spPr>
          <a:xfrm>
            <a:off x="9405315" y="3395685"/>
            <a:ext cx="1213074" cy="32164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AF6CB091-383F-99A7-F952-3CAA114415EF}"/>
              </a:ext>
            </a:extLst>
          </p:cNvPr>
          <p:cNvSpPr/>
          <p:nvPr/>
        </p:nvSpPr>
        <p:spPr>
          <a:xfrm>
            <a:off x="7553114" y="3124906"/>
            <a:ext cx="2133093" cy="541557"/>
          </a:xfrm>
          <a:prstGeom prst="arc">
            <a:avLst>
              <a:gd name="adj1" fmla="val 10814381"/>
              <a:gd name="adj2" fmla="val 12948"/>
            </a:avLst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597EE-16F6-4B8E-C981-CC4822429A53}"/>
              </a:ext>
            </a:extLst>
          </p:cNvPr>
          <p:cNvSpPr txBox="1"/>
          <p:nvPr/>
        </p:nvSpPr>
        <p:spPr>
          <a:xfrm>
            <a:off x="8084180" y="2796691"/>
            <a:ext cx="118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flip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73992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223B2-848A-A8D3-5210-CD6BA6A8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Contributions</a:t>
            </a:r>
            <a:endParaRPr lang="LID4096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100C80-A3E4-DA35-7111-F0B95585A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28305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049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C4D4-3A27-81D2-B854-359E67B5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F2493-3B56-136B-5674-79793DAD7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Games</a:t>
            </a:r>
            <a:r>
              <a:rPr lang="en-US" dirty="0"/>
              <a:t>: Prisoner’s Dilemma (Stag Hunt), Rock-Paper-Scissors</a:t>
            </a:r>
          </a:p>
          <a:p>
            <a:r>
              <a:rPr lang="en-US" b="1" dirty="0"/>
              <a:t>Setup</a:t>
            </a:r>
            <a:r>
              <a:rPr lang="en-US" dirty="0"/>
              <a:t>: Repeated rounds with the same opponent (history is available to players).</a:t>
            </a:r>
          </a:p>
          <a:p>
            <a:r>
              <a:rPr lang="en-US" b="1" dirty="0"/>
              <a:t>Metrics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Points</a:t>
            </a:r>
            <a:r>
              <a:rPr lang="el-GR" dirty="0"/>
              <a:t>: </a:t>
            </a:r>
            <a:r>
              <a:rPr lang="en-US" dirty="0"/>
              <a:t>Total Points accumulated after all rounds of the game are finished.</a:t>
            </a:r>
          </a:p>
          <a:p>
            <a:pPr lvl="1"/>
            <a:r>
              <a:rPr lang="en-US" b="1" dirty="0"/>
              <a:t>Cooperation Rate</a:t>
            </a:r>
            <a:r>
              <a:rPr lang="en-US" dirty="0"/>
              <a:t>: Used for comparison with other work in Prisoner’s Dilemma.</a:t>
            </a:r>
          </a:p>
          <a:p>
            <a:pPr lvl="1"/>
            <a:r>
              <a:rPr lang="en-US" b="1" dirty="0"/>
              <a:t>Opponent Comprehension</a:t>
            </a:r>
            <a:r>
              <a:rPr lang="en-US" dirty="0"/>
              <a:t>: Roughly, refers to the moment in the game when an agent manages to make the most out of their opponent’s choices.</a:t>
            </a:r>
          </a:p>
          <a:p>
            <a:pPr lvl="1"/>
            <a:r>
              <a:rPr lang="en-US" b="1" dirty="0"/>
              <a:t>Efficiency</a:t>
            </a:r>
            <a:r>
              <a:rPr lang="en-US" dirty="0"/>
              <a:t> &amp; </a:t>
            </a:r>
            <a:r>
              <a:rPr lang="en-US" b="1" dirty="0"/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277545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916D-4914-8899-D718-1AD7B6F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Overview: LLMs tested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27E08-1ECB-747D-E184-48E8C501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Claude 3.5 Sonnet v2</a:t>
            </a:r>
          </a:p>
          <a:p>
            <a:r>
              <a:rPr lang="en-US" dirty="0"/>
              <a:t>Claude 3.7 Sonnet</a:t>
            </a:r>
          </a:p>
          <a:p>
            <a:r>
              <a:rPr lang="en-US" dirty="0"/>
              <a:t>Claude 3.7 Sonnet (Thinking)</a:t>
            </a:r>
            <a:endParaRPr lang="LID4096" dirty="0"/>
          </a:p>
          <a:p>
            <a:r>
              <a:rPr lang="en-US" dirty="0"/>
              <a:t>Claude Sonnet 4</a:t>
            </a:r>
          </a:p>
          <a:p>
            <a:r>
              <a:rPr lang="en-US" dirty="0"/>
              <a:t>Claude Sonnet 4 (Thinking)</a:t>
            </a:r>
          </a:p>
          <a:p>
            <a:r>
              <a:rPr lang="en-US" dirty="0"/>
              <a:t>DeepSeek-R1</a:t>
            </a:r>
          </a:p>
          <a:p>
            <a:r>
              <a:rPr lang="en-US" dirty="0"/>
              <a:t>Llama 3.3 70B Instruct</a:t>
            </a:r>
          </a:p>
          <a:p>
            <a:r>
              <a:rPr lang="en-US" dirty="0"/>
              <a:t>Mistral Large (24.07)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8032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BCFDF-ADE8-31E2-425E-B06E1D837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2312127"/>
          </a:xfrm>
        </p:spPr>
        <p:txBody>
          <a:bodyPr anchor="t">
            <a:normAutofit/>
          </a:bodyPr>
          <a:lstStyle/>
          <a:p>
            <a:r>
              <a:rPr lang="en-US" sz="3600" dirty="0"/>
              <a:t>Methodology Overview: LLM Agents</a:t>
            </a:r>
            <a:endParaRPr lang="LID4096" sz="3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2D0F88-057B-7096-C933-66BB857C5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01902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4536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17A67-0506-659F-05B0-F04FD002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D8DCA9-6710-778D-DD8A-8898E55A0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8EDC2-A221-4909-153C-1AD6D5821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2312127"/>
          </a:xfrm>
        </p:spPr>
        <p:txBody>
          <a:bodyPr anchor="t">
            <a:normAutofit/>
          </a:bodyPr>
          <a:lstStyle/>
          <a:p>
            <a:r>
              <a:rPr lang="en-US" sz="3600" dirty="0"/>
              <a:t>Methodology Overview: non-LLM Agents</a:t>
            </a:r>
            <a:endParaRPr lang="LID4096" sz="3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13F00A-215F-A834-01C7-81D01A28B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B68F12-3831-E3CF-9F05-284B8527F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56827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052BB423-9BA8-6276-6159-C28F073BE433}"/>
              </a:ext>
            </a:extLst>
          </p:cNvPr>
          <p:cNvSpPr txBox="1">
            <a:spLocks/>
          </p:cNvSpPr>
          <p:nvPr/>
        </p:nvSpPr>
        <p:spPr>
          <a:xfrm>
            <a:off x="672252" y="3631475"/>
            <a:ext cx="3000587" cy="19071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Algorithmic player-types influenced by “Can Large Language Models Serve as Rational Players in Game Theory? A Systematic Analysis”. They are: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233023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F087F-A6F5-2E00-B04D-1BB1AFA3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295568" cy="13223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Example Chats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30CBB7-4979-FF4A-1BED-023871C58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41A075-AD80-7B5F-0F74-D022A54EA74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952" y="1877648"/>
            <a:ext cx="4360984" cy="4664155"/>
          </a:xfrm>
          <a:prstGeom prst="rect">
            <a:avLst/>
          </a:prstGeom>
        </p:spPr>
      </p:pic>
      <p:pic>
        <p:nvPicPr>
          <p:cNvPr id="8" name="Content Placeholder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A4E7765-E380-872E-BEBC-36A199A31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386" y="2147865"/>
            <a:ext cx="4360984" cy="4393938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E9000E0-7E2C-C11C-8293-CBDD0A6D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" y="4009292"/>
            <a:ext cx="2295568" cy="24455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5 total runs for each LLM agent. If the agent is a Self-Consistency prompted agent, then only 2 runs.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3DF053B-AA85-0F1F-2241-A9409E757E10}"/>
              </a:ext>
            </a:extLst>
          </p:cNvPr>
          <p:cNvSpPr/>
          <p:nvPr/>
        </p:nvSpPr>
        <p:spPr>
          <a:xfrm>
            <a:off x="3685170" y="3662578"/>
            <a:ext cx="473282" cy="30709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27F195-BCA0-7F7C-A580-5171979C7E12}"/>
              </a:ext>
            </a:extLst>
          </p:cNvPr>
          <p:cNvSpPr/>
          <p:nvPr/>
        </p:nvSpPr>
        <p:spPr>
          <a:xfrm>
            <a:off x="4158452" y="3662577"/>
            <a:ext cx="1006300" cy="3070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3786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3D7B3-BAD7-AFD6-12DD-05762514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F4C9EA-57DB-9428-5709-FBF83124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BF2606A-7406-CCDC-E07B-7E89E6A7E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8FA55-5C1B-03F8-B466-32D5F662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2295568" cy="13223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Method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BAA21A-3574-592D-B0D0-3CF910C1E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565F7-2A4B-EFCF-4C54-173F1F0C4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8601" y="165697"/>
            <a:ext cx="7294698" cy="65416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00" dirty="0"/>
              <a:t>You are going to play a game with other player(s). Begin by identifying the personas who could contribute to you winning. Then initiate a multi-round collaboration process among these personas, until a final decision is reached. The personas will give critical comments and detailed suggestions whenever necessary.</a:t>
            </a:r>
          </a:p>
          <a:p>
            <a:pPr marL="0" indent="0">
              <a:buNone/>
            </a:pPr>
            <a:r>
              <a:rPr lang="en-US" sz="900" dirty="0"/>
              <a:t>Here is an example on a simpler task from what you will be playing:</a:t>
            </a:r>
          </a:p>
          <a:p>
            <a:pPr marL="0" indent="0">
              <a:buNone/>
            </a:pPr>
            <a:r>
              <a:rPr lang="en-US" sz="900" dirty="0"/>
              <a:t>---</a:t>
            </a:r>
            <a:br>
              <a:rPr lang="en-US" sz="900" dirty="0"/>
            </a:br>
            <a:r>
              <a:rPr lang="en-US" sz="900" dirty="0"/>
              <a:t>Example Task: Use numbers and basic arithmetic operations (+ - * /) to obtain 24. You need to use all numbers, and each number can only be used once.</a:t>
            </a:r>
            <a:br>
              <a:rPr lang="en-US" sz="900" dirty="0"/>
            </a:br>
            <a:r>
              <a:rPr lang="en-US" sz="900" dirty="0"/>
              <a:t>Input: 6 12 1 1</a:t>
            </a:r>
          </a:p>
          <a:p>
            <a:pPr marL="0" indent="0">
              <a:buNone/>
            </a:pPr>
            <a:r>
              <a:rPr lang="en-US" sz="900" dirty="0"/>
              <a:t>Personas: AI Assistant (you); Math Expert</a:t>
            </a:r>
          </a:p>
          <a:p>
            <a:pPr marL="0" indent="0">
              <a:buNone/>
            </a:pPr>
            <a:r>
              <a:rPr lang="en-US" sz="900" dirty="0"/>
              <a:t>Start collaboration!</a:t>
            </a:r>
          </a:p>
          <a:p>
            <a:pPr marL="0" indent="0">
              <a:buNone/>
            </a:pPr>
            <a:r>
              <a:rPr lang="en-US" sz="900" dirty="0"/>
              <a:t>Math Expert: Let's analyze the task in detail. You need to make sure that you meet the requirement, that you need to use exactly the four numbers (6 12 1 1) to construct 24. To reach 24, you can think of the common divisors of 24 such as 4, 6, 8, 3 and try to construct these first. Also you need to think of potential additions that can reach 24, such as 12 + 12.</a:t>
            </a:r>
            <a:br>
              <a:rPr lang="en-US" sz="900" dirty="0"/>
            </a:br>
            <a:r>
              <a:rPr lang="en-US" sz="900" dirty="0"/>
              <a:t>AI Assistant (you): Thanks for the hints! Here's one initial solution: (12 / (1 + 1)) * 6 = 24</a:t>
            </a:r>
            <a:br>
              <a:rPr lang="en-US" sz="900" dirty="0"/>
            </a:br>
            <a:r>
              <a:rPr lang="en-US" sz="900" dirty="0"/>
              <a:t>Math Expert: Let's check the answer step by step. (1+1) = 2, (12 / 2) = 6, 6 * 6 = 36 which is not 24! The answer is not correct. Can you fix this by considering other combinations? Please do not make similar mistakes.</a:t>
            </a:r>
            <a:br>
              <a:rPr lang="en-US" sz="900" dirty="0"/>
            </a:br>
            <a:r>
              <a:rPr lang="en-US" sz="900" dirty="0"/>
              <a:t>AI Assistant (you): Thanks for pointing out the mistake. Here is a revised solution considering 24 can also be reached by 3 * 8: (6 + 1 + 1) * (12 / 4) = 24.</a:t>
            </a:r>
            <a:br>
              <a:rPr lang="en-US" sz="900" dirty="0"/>
            </a:br>
            <a:r>
              <a:rPr lang="en-US" sz="900" dirty="0"/>
              <a:t>Math Expert: Let's first check if the calculation is correct. (6 + 1 + 1) = 8, 12 / 4 = 3, 8 * 3 = 24. The calculation is correct, but you used 6 1 1 12 4 which is not the same as the input 6 12 1 1. Can you avoid using a number that is not part of the input?</a:t>
            </a:r>
            <a:br>
              <a:rPr lang="en-US" sz="900" dirty="0"/>
            </a:br>
            <a:r>
              <a:rPr lang="en-US" sz="900" dirty="0"/>
              <a:t>AI Assistant (you): You are right, here is a revised solution considering 24 can be reached by 12 + 12 and without using any additional numbers: 6 * (1 - 1) + 12 = 24.</a:t>
            </a:r>
            <a:br>
              <a:rPr lang="en-US" sz="900" dirty="0"/>
            </a:br>
            <a:r>
              <a:rPr lang="en-US" sz="900" dirty="0"/>
              <a:t>Math Expert: Let's check the answer again. 1 - 1 = 0, 6 * 0 = 0, 0 + 12 = 12. I believe you are very close, here is a hint: try to change the "1 - 1" to "1 + 1".</a:t>
            </a:r>
            <a:br>
              <a:rPr lang="en-US" sz="900" dirty="0"/>
            </a:br>
            <a:r>
              <a:rPr lang="en-US" sz="900" dirty="0"/>
              <a:t>AI Assistant (you): Sure, here is the corrected answer: 6 * (1+1) + 12 = 24</a:t>
            </a:r>
            <a:br>
              <a:rPr lang="en-US" sz="900" dirty="0"/>
            </a:br>
            <a:r>
              <a:rPr lang="en-US" sz="900" dirty="0"/>
              <a:t>Math Expert: Let's verify the solution. 1 + 1 = 2, 6 * 2 = 12, 12 + 12 = 12. You used 1 1 6 12 which is identical to the input 6 12 1 1. Everything looks good!</a:t>
            </a:r>
          </a:p>
          <a:p>
            <a:pPr marL="0" indent="0">
              <a:buNone/>
            </a:pPr>
            <a:r>
              <a:rPr lang="en-US" sz="900" dirty="0"/>
              <a:t>Finish collaboration!</a:t>
            </a:r>
          </a:p>
          <a:p>
            <a:pPr marL="0" indent="0">
              <a:buNone/>
            </a:pPr>
            <a:r>
              <a:rPr lang="en-US" sz="900" dirty="0"/>
              <a:t>Final decision: 6 * (1 + 1) + 12 = 24</a:t>
            </a:r>
          </a:p>
          <a:p>
            <a:pPr marL="0" indent="0">
              <a:buNone/>
            </a:pPr>
            <a:r>
              <a:rPr lang="en-US" sz="900" dirty="0"/>
              <a:t>---</a:t>
            </a:r>
          </a:p>
          <a:p>
            <a:pPr marL="0" indent="0">
              <a:buNone/>
            </a:pPr>
            <a:r>
              <a:rPr lang="en-US" sz="900" dirty="0"/>
              <a:t>Now, the game you will be playing is presented. Identify the personas and use their multi-round collaboration to help you complete the objective of the </a:t>
            </a:r>
            <a:r>
              <a:rPr lang="en-US" sz="900" dirty="0" err="1"/>
              <a:t>the</a:t>
            </a:r>
            <a:r>
              <a:rPr lang="en-US" sz="900" dirty="0"/>
              <a:t> game. You may discuss with your personas on any round of the game, as you see fit.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0150BA-76F8-9D42-C15A-B0DE01AA7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8396" y="2062003"/>
            <a:ext cx="3892895" cy="464534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You are going to play a game with other player(s). Think step-by-step. Begin by identifying steps that will contribute to you winning. Then reason through the steps, until a final decision is reached. The steps should reflect a meaningful thought process.</a:t>
            </a:r>
          </a:p>
          <a:p>
            <a:pPr marL="0" indent="0">
              <a:buNone/>
            </a:pPr>
            <a:r>
              <a:rPr lang="en-US" dirty="0"/>
              <a:t>Here is an example on a simpler task from what you will be playing:</a:t>
            </a:r>
          </a:p>
          <a:p>
            <a:pPr marL="0" indent="0">
              <a:buNone/>
            </a:pPr>
            <a:r>
              <a:rPr lang="en-US" dirty="0"/>
              <a:t>---</a:t>
            </a:r>
            <a:br>
              <a:rPr lang="en-US" dirty="0"/>
            </a:br>
            <a:r>
              <a:rPr lang="en-US" dirty="0"/>
              <a:t>Example Task: Roger has 5 tennis balls. He buys 2 more cans of tennis balls. Each can has 3 tennis balls. How many tennis balls does Roger have now?</a:t>
            </a:r>
          </a:p>
          <a:p>
            <a:pPr marL="0" indent="0">
              <a:buNone/>
            </a:pPr>
            <a:r>
              <a:rPr lang="en-US" dirty="0"/>
              <a:t>Steps:</a:t>
            </a:r>
          </a:p>
          <a:p>
            <a:pPr marL="0" indent="0">
              <a:buNone/>
            </a:pPr>
            <a:r>
              <a:rPr lang="en-US" dirty="0"/>
              <a:t>1. Roger starts with 5 tennis balls.</a:t>
            </a:r>
            <a:br>
              <a:rPr lang="en-US" dirty="0"/>
            </a:br>
            <a:r>
              <a:rPr lang="en-US" dirty="0"/>
              <a:t>2. 2 cans of 3 tennis balls each are bought. This is 2 * 3 = 6 tennis balls.</a:t>
            </a:r>
            <a:br>
              <a:rPr lang="en-US" dirty="0"/>
            </a:br>
            <a:r>
              <a:rPr lang="en-US" dirty="0"/>
              <a:t>3. Roger now has 5 + 6 = 11 tennis balls.</a:t>
            </a:r>
          </a:p>
          <a:p>
            <a:pPr marL="0" indent="0">
              <a:buNone/>
            </a:pPr>
            <a:r>
              <a:rPr lang="en-US" dirty="0"/>
              <a:t>Finish steps!</a:t>
            </a:r>
          </a:p>
          <a:p>
            <a:pPr marL="0" indent="0">
              <a:buNone/>
            </a:pPr>
            <a:r>
              <a:rPr lang="en-US" dirty="0"/>
              <a:t>Final decision: 11 tennis balls</a:t>
            </a:r>
          </a:p>
          <a:p>
            <a:pPr marL="0" indent="0">
              <a:buNone/>
            </a:pPr>
            <a:r>
              <a:rPr lang="en-US" dirty="0"/>
              <a:t>---</a:t>
            </a:r>
          </a:p>
          <a:p>
            <a:pPr marL="0" indent="0">
              <a:buNone/>
            </a:pPr>
            <a:r>
              <a:rPr lang="en-US" dirty="0"/>
              <a:t>Now, the game you will be playing is presented. Think step-by-step. Identify the steps and reason through them to complete the objective of the game. You may come up with different reasoning steps for each round, as you see fit.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96BBB-E4FB-C4ED-0587-608931518B5D}"/>
              </a:ext>
            </a:extLst>
          </p:cNvPr>
          <p:cNvCxnSpPr/>
          <p:nvPr/>
        </p:nvCxnSpPr>
        <p:spPr>
          <a:xfrm>
            <a:off x="3225672" y="2256133"/>
            <a:ext cx="7903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C17180-BCEF-0484-9AD7-8251656969AB}"/>
              </a:ext>
            </a:extLst>
          </p:cNvPr>
          <p:cNvCxnSpPr/>
          <p:nvPr/>
        </p:nvCxnSpPr>
        <p:spPr>
          <a:xfrm>
            <a:off x="441118" y="2421552"/>
            <a:ext cx="2721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6D0024-612F-73BE-C510-5B356886FC97}"/>
              </a:ext>
            </a:extLst>
          </p:cNvPr>
          <p:cNvCxnSpPr>
            <a:cxnSpLocks/>
          </p:cNvCxnSpPr>
          <p:nvPr/>
        </p:nvCxnSpPr>
        <p:spPr>
          <a:xfrm>
            <a:off x="7710368" y="367598"/>
            <a:ext cx="12252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B85F32F-F19F-73F2-18CD-3EDA08DB6C75}"/>
              </a:ext>
            </a:extLst>
          </p:cNvPr>
          <p:cNvCxnSpPr/>
          <p:nvPr/>
        </p:nvCxnSpPr>
        <p:spPr>
          <a:xfrm>
            <a:off x="5077447" y="523827"/>
            <a:ext cx="39057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36BA0E-33B5-E558-0936-723DF21E4E43}"/>
              </a:ext>
            </a:extLst>
          </p:cNvPr>
          <p:cNvSpPr/>
          <p:nvPr/>
        </p:nvSpPr>
        <p:spPr>
          <a:xfrm>
            <a:off x="4737419" y="1815015"/>
            <a:ext cx="2178018" cy="340013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6EFB46F-8E7A-1382-5A5A-D4AB525F0DE3}"/>
              </a:ext>
            </a:extLst>
          </p:cNvPr>
          <p:cNvSpPr/>
          <p:nvPr/>
        </p:nvSpPr>
        <p:spPr>
          <a:xfrm>
            <a:off x="441118" y="3979248"/>
            <a:ext cx="441117" cy="225151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E76E4260-153A-B1C2-9A3E-D9DABA65C939}"/>
              </a:ext>
            </a:extLst>
          </p:cNvPr>
          <p:cNvSpPr/>
          <p:nvPr/>
        </p:nvSpPr>
        <p:spPr>
          <a:xfrm>
            <a:off x="4416623" y="2398577"/>
            <a:ext cx="466128" cy="2954306"/>
          </a:xfrm>
          <a:prstGeom prst="leftBrace">
            <a:avLst>
              <a:gd name="adj1" fmla="val 96067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ABF56473-EB75-C483-8869-877E9ABF8735}"/>
              </a:ext>
            </a:extLst>
          </p:cNvPr>
          <p:cNvSpPr/>
          <p:nvPr/>
        </p:nvSpPr>
        <p:spPr>
          <a:xfrm>
            <a:off x="251509" y="4268732"/>
            <a:ext cx="253773" cy="661676"/>
          </a:xfrm>
          <a:prstGeom prst="leftBrace">
            <a:avLst>
              <a:gd name="adj1" fmla="val 65184"/>
              <a:gd name="adj2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EDDCAD-37BC-4340-4299-CBA660F86BC5}"/>
              </a:ext>
            </a:extLst>
          </p:cNvPr>
          <p:cNvCxnSpPr/>
          <p:nvPr/>
        </p:nvCxnSpPr>
        <p:spPr>
          <a:xfrm>
            <a:off x="4737419" y="5899948"/>
            <a:ext cx="180582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F2021F7-AC38-A7B0-AF77-8BD2B2202227}"/>
              </a:ext>
            </a:extLst>
          </p:cNvPr>
          <p:cNvCxnSpPr/>
          <p:nvPr/>
        </p:nvCxnSpPr>
        <p:spPr>
          <a:xfrm>
            <a:off x="441118" y="5504780"/>
            <a:ext cx="17001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66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163A1-3E89-9686-D5B7-7CDE7AD6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3D5342-8196-23EB-6BC0-885B14FA4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42C5B13-E3B4-029C-1C0E-5A44D21D7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08BEF-4329-473C-4FA4-7C0149F7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1890170"/>
            <a:ext cx="2544093" cy="153882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/>
              <a:t>Game – Description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5FF8C8-CC68-E805-BFB7-21B02E066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AEF7F-AF12-2986-293B-3E943607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108" y="218049"/>
            <a:ext cx="8250888" cy="64078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You are playing a game against other player(s). The game is based on making moves.</a:t>
            </a:r>
          </a:p>
          <a:p>
            <a:pPr marL="0" indent="0">
              <a:buNone/>
            </a:pPr>
            <a:r>
              <a:rPr lang="en-US" dirty="0"/>
              <a:t>Game Description:</a:t>
            </a:r>
            <a:br>
              <a:rPr lang="en-US" dirty="0"/>
            </a:br>
            <a:r>
              <a:rPr lang="en-US" dirty="0"/>
              <a:t>There are three possible moves: {a}, {b}, and {c}.</a:t>
            </a:r>
            <a:br>
              <a:rPr lang="en-US" dirty="0"/>
            </a:br>
            <a:r>
              <a:rPr lang="en-US" dirty="0"/>
              <a:t>- {a} beats {c} giving the winner {ac} points and the loser -{ac} points.</a:t>
            </a:r>
            <a:br>
              <a:rPr lang="en-US" dirty="0"/>
            </a:br>
            <a:r>
              <a:rPr lang="en-US" dirty="0"/>
              <a:t>- {b} beats {a} giving the winner {</a:t>
            </a:r>
            <a:r>
              <a:rPr lang="en-US" dirty="0" err="1"/>
              <a:t>ba</a:t>
            </a:r>
            <a:r>
              <a:rPr lang="en-US" dirty="0"/>
              <a:t>} points and the loser -{</a:t>
            </a:r>
            <a:r>
              <a:rPr lang="en-US" dirty="0" err="1"/>
              <a:t>ba</a:t>
            </a:r>
            <a:r>
              <a:rPr lang="en-US" dirty="0"/>
              <a:t>} points.</a:t>
            </a:r>
            <a:br>
              <a:rPr lang="en-US" dirty="0"/>
            </a:br>
            <a:r>
              <a:rPr lang="en-US" dirty="0"/>
              <a:t>- {c} beats {b} giving the winner {</a:t>
            </a:r>
            <a:r>
              <a:rPr lang="en-US" dirty="0" err="1"/>
              <a:t>cb</a:t>
            </a:r>
            <a:r>
              <a:rPr lang="en-US" dirty="0"/>
              <a:t>} points and the loser -{</a:t>
            </a:r>
            <a:r>
              <a:rPr lang="en-US" dirty="0" err="1"/>
              <a:t>cb</a:t>
            </a:r>
            <a:r>
              <a:rPr lang="en-US" dirty="0"/>
              <a:t>} points.</a:t>
            </a:r>
            <a:br>
              <a:rPr lang="en-US" dirty="0"/>
            </a:br>
            <a:r>
              <a:rPr lang="en-US" dirty="0"/>
              <a:t>- If both players make the same move, the game is a tie and no points are awarded.</a:t>
            </a:r>
          </a:p>
          <a:p>
            <a:pPr marL="0" indent="0">
              <a:buNone/>
            </a:pPr>
            <a:r>
              <a:rPr lang="en-US" dirty="0"/>
              <a:t>In each round of the game you play against one other player. You and the other player each make a move privately. The moves are compared and you and the other player get your reward/penalty based on the moves made.</a:t>
            </a:r>
          </a:p>
          <a:p>
            <a:pPr marL="0" indent="0">
              <a:buNone/>
            </a:pPr>
            <a:r>
              <a:rPr lang="en-US" dirty="0"/>
              <a:t>Message Formats:</a:t>
            </a:r>
            <a:br>
              <a:rPr lang="en-US" dirty="0"/>
            </a:br>
            <a:r>
              <a:rPr lang="en-US" dirty="0"/>
              <a:t>Move messages are sent when you want to make a move.</a:t>
            </a:r>
            <a:br>
              <a:rPr lang="en-US" dirty="0"/>
            </a:br>
            <a:r>
              <a:rPr lang="en-US" dirty="0"/>
              <a:t>Move messages are formatted like this:</a:t>
            </a:r>
            <a:br>
              <a:rPr lang="en-US" dirty="0"/>
            </a:br>
            <a:r>
              <a:rPr lang="en-US" dirty="0"/>
              <a:t>[move] (Optional explanation here) Your move here</a:t>
            </a:r>
          </a:p>
          <a:p>
            <a:pPr marL="0" indent="0">
              <a:buNone/>
            </a:pPr>
            <a:r>
              <a:rPr lang="en-US" dirty="0"/>
              <a:t>Hint messages are received when you are provided with advice and directions. These messages are important and you should pay attention to them.</a:t>
            </a:r>
            <a:br>
              <a:rPr lang="en-US" dirty="0"/>
            </a:br>
            <a:r>
              <a:rPr lang="en-US" dirty="0"/>
              <a:t>Hint messages are formatted like this:</a:t>
            </a:r>
            <a:br>
              <a:rPr lang="en-US" dirty="0"/>
            </a:br>
            <a:r>
              <a:rPr lang="en-US" dirty="0"/>
              <a:t>[hint] Hint message here</a:t>
            </a:r>
          </a:p>
          <a:p>
            <a:pPr marL="0" indent="0">
              <a:buNone/>
            </a:pPr>
            <a:r>
              <a:rPr lang="en-US" dirty="0"/>
              <a:t>Objective: Maximize your points and/or minimize your penalties.</a:t>
            </a:r>
          </a:p>
          <a:p>
            <a:pPr marL="0" indent="0">
              <a:buNone/>
            </a:pPr>
            <a:r>
              <a:rPr lang="en-US" dirty="0"/>
              <a:t>Tips:</a:t>
            </a:r>
            <a:br>
              <a:rPr lang="en-US" dirty="0"/>
            </a:br>
            <a:r>
              <a:rPr lang="en-US" dirty="0"/>
              <a:t>- Try to formulate a strategy by reasoning on the provided information.</a:t>
            </a:r>
            <a:br>
              <a:rPr lang="en-US" dirty="0"/>
            </a:br>
            <a:r>
              <a:rPr lang="en-US" dirty="0"/>
              <a:t>- Pay attention to the payoff matrix of the game moves.</a:t>
            </a:r>
            <a:br>
              <a:rPr lang="en-US" dirty="0"/>
            </a:br>
            <a:r>
              <a:rPr lang="en-US" dirty="0"/>
              <a:t>- You should only send move messages. Hint messages will only be provided to you.</a:t>
            </a:r>
            <a:br>
              <a:rPr lang="en-US" dirty="0"/>
            </a:br>
            <a:r>
              <a:rPr lang="en-US" dirty="0"/>
              <a:t>- Pay attention to hints when provided.</a:t>
            </a:r>
            <a:br>
              <a:rPr lang="en-US" dirty="0"/>
            </a:br>
            <a:r>
              <a:rPr lang="en-US" dirty="0"/>
              <a:t>- Do not use markdown formatting in your messages (e.g., bold text, italic text, etc.).</a:t>
            </a:r>
          </a:p>
          <a:p>
            <a:endParaRPr lang="LID4096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1046F-11A9-A95E-60BC-F3905355A937}"/>
              </a:ext>
            </a:extLst>
          </p:cNvPr>
          <p:cNvSpPr txBox="1"/>
          <p:nvPr/>
        </p:nvSpPr>
        <p:spPr>
          <a:xfrm>
            <a:off x="1933039" y="1023611"/>
            <a:ext cx="1358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Counterfactual game parameters</a:t>
            </a:r>
            <a:endParaRPr lang="LID4096" sz="1400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BA4339-2D63-9F1A-4C6E-E81A6C74C0BB}"/>
              </a:ext>
            </a:extLst>
          </p:cNvPr>
          <p:cNvSpPr txBox="1"/>
          <p:nvPr/>
        </p:nvSpPr>
        <p:spPr>
          <a:xfrm>
            <a:off x="1897538" y="3488710"/>
            <a:ext cx="152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Communication description</a:t>
            </a:r>
            <a:endParaRPr lang="LID4096" sz="1400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80E608-C433-378D-9538-53E4081EBC6D}"/>
              </a:ext>
            </a:extLst>
          </p:cNvPr>
          <p:cNvSpPr txBox="1"/>
          <p:nvPr/>
        </p:nvSpPr>
        <p:spPr>
          <a:xfrm>
            <a:off x="2205405" y="5647446"/>
            <a:ext cx="1219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Player tips</a:t>
            </a:r>
            <a:endParaRPr lang="LID4096" sz="1400" dirty="0">
              <a:solidFill>
                <a:srgbClr val="00B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0C57F6-DD9F-0DA9-DD35-B1F7EC8B7462}"/>
              </a:ext>
            </a:extLst>
          </p:cNvPr>
          <p:cNvSpPr/>
          <p:nvPr/>
        </p:nvSpPr>
        <p:spPr>
          <a:xfrm>
            <a:off x="3625133" y="804120"/>
            <a:ext cx="6561926" cy="1163859"/>
          </a:xfrm>
          <a:prstGeom prst="roundRect">
            <a:avLst>
              <a:gd name="adj" fmla="val 9254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C4F10A-FB93-242D-9681-EADB688381C3}"/>
              </a:ext>
            </a:extLst>
          </p:cNvPr>
          <p:cNvCxnSpPr/>
          <p:nvPr/>
        </p:nvCxnSpPr>
        <p:spPr>
          <a:xfrm>
            <a:off x="3662902" y="2421552"/>
            <a:ext cx="739084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Left Brace 6">
            <a:extLst>
              <a:ext uri="{FF2B5EF4-FFF2-40B4-BE49-F238E27FC236}">
                <a16:creationId xmlns:a16="http://schemas.microsoft.com/office/drawing/2014/main" id="{B919DC72-E221-6D33-B9DE-269AD57DC276}"/>
              </a:ext>
            </a:extLst>
          </p:cNvPr>
          <p:cNvSpPr/>
          <p:nvPr/>
        </p:nvSpPr>
        <p:spPr>
          <a:xfrm>
            <a:off x="3315423" y="2703546"/>
            <a:ext cx="457816" cy="1978347"/>
          </a:xfrm>
          <a:prstGeom prst="leftBrace">
            <a:avLst>
              <a:gd name="adj1" fmla="val 56509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B7B836-4503-1772-1505-851539D598D4}"/>
              </a:ext>
            </a:extLst>
          </p:cNvPr>
          <p:cNvCxnSpPr/>
          <p:nvPr/>
        </p:nvCxnSpPr>
        <p:spPr>
          <a:xfrm>
            <a:off x="3662902" y="4957978"/>
            <a:ext cx="7804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112053-3709-643E-F675-9456C388D9C2}"/>
              </a:ext>
            </a:extLst>
          </p:cNvPr>
          <p:cNvSpPr/>
          <p:nvPr/>
        </p:nvSpPr>
        <p:spPr>
          <a:xfrm>
            <a:off x="3424794" y="5059067"/>
            <a:ext cx="6820352" cy="1442814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421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F0454-A523-9AB6-D67E-18D6BE08F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/>
              <a:t>Counterfactual Results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069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94377-6F69-71AA-5139-5FC6FD7F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Prisoner’s Dilemma - Cooperation Rates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17657D-125A-5E59-2FCA-D84F51A1DD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" b="273"/>
          <a:stretch/>
        </p:blipFill>
        <p:spPr>
          <a:xfrm>
            <a:off x="4086665" y="184766"/>
            <a:ext cx="7821637" cy="642142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3DD54C-8D36-53A1-3649-975CA5267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033037"/>
              </p:ext>
            </p:extLst>
          </p:nvPr>
        </p:nvGraphicFramePr>
        <p:xfrm>
          <a:off x="640080" y="4584383"/>
          <a:ext cx="3260578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14">
                  <a:extLst>
                    <a:ext uri="{9D8B030D-6E8A-4147-A177-3AD203B41FA5}">
                      <a16:colId xmlns:a16="http://schemas.microsoft.com/office/drawing/2014/main" val="2609996984"/>
                    </a:ext>
                  </a:extLst>
                </a:gridCol>
                <a:gridCol w="2181664">
                  <a:extLst>
                    <a:ext uri="{9D8B030D-6E8A-4147-A177-3AD203B41FA5}">
                      <a16:colId xmlns:a16="http://schemas.microsoft.com/office/drawing/2014/main" val="4225701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Game Type</a:t>
                      </a:r>
                      <a:endParaRPr lang="LID4096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Description</a:t>
                      </a:r>
                      <a:endParaRPr lang="LID4096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344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pd</a:t>
                      </a:r>
                      <a:endParaRPr lang="LID4096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Prisoner’s Dilemma; Base game</a:t>
                      </a:r>
                      <a:endParaRPr lang="LID4096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41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pd-alt</a:t>
                      </a:r>
                      <a:endParaRPr lang="LID4096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Payoff Counterfactual</a:t>
                      </a:r>
                      <a:endParaRPr lang="LID4096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36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sh</a:t>
                      </a:r>
                      <a:r>
                        <a:rPr lang="en-US" sz="1200" dirty="0"/>
                        <a:t>-alt</a:t>
                      </a:r>
                      <a:endParaRPr lang="LID4096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Strategy Counterfactual</a:t>
                      </a:r>
                      <a:endParaRPr lang="LID4096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9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 err="1"/>
                        <a:t>sh</a:t>
                      </a:r>
                      <a:endParaRPr lang="LID4096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Stag Hunt; Combined Counterfactual</a:t>
                      </a:r>
                      <a:endParaRPr lang="LID4096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1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971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63B45-AF6F-D9DE-569F-B9B87845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9F65DCA-1F7D-4EB4-2DD1-811B23CBE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48842A18-7F48-C869-0A71-C86D4596B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57774-0180-4527-4EBE-BE01B38E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Prisoner’s Dilemma – Total Points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E72CE1F-521B-AEEC-05F7-EA3FCFF51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B852BBE-2D69-3BD3-9469-9FED84DEF7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" r="1368"/>
          <a:stretch/>
        </p:blipFill>
        <p:spPr>
          <a:xfrm>
            <a:off x="4086665" y="184766"/>
            <a:ext cx="7821637" cy="642142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62568C-3142-561B-415B-1ECF64B48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741066"/>
              </p:ext>
            </p:extLst>
          </p:nvPr>
        </p:nvGraphicFramePr>
        <p:xfrm>
          <a:off x="713232" y="3763883"/>
          <a:ext cx="2135188" cy="2063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976">
                  <a:extLst>
                    <a:ext uri="{9D8B030D-6E8A-4147-A177-3AD203B41FA5}">
                      <a16:colId xmlns:a16="http://schemas.microsoft.com/office/drawing/2014/main" val="3133711983"/>
                    </a:ext>
                  </a:extLst>
                </a:gridCol>
                <a:gridCol w="1319212">
                  <a:extLst>
                    <a:ext uri="{9D8B030D-6E8A-4147-A177-3AD203B41FA5}">
                      <a16:colId xmlns:a16="http://schemas.microsoft.com/office/drawing/2014/main" val="3266651244"/>
                    </a:ext>
                  </a:extLst>
                </a:gridCol>
              </a:tblGrid>
              <a:tr h="243364">
                <a:tc>
                  <a:txBody>
                    <a:bodyPr/>
                    <a:lstStyle/>
                    <a:p>
                      <a:r>
                        <a:rPr lang="en-US" sz="1000" dirty="0"/>
                        <a:t>Opponent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18014"/>
                  </a:ext>
                </a:extLst>
              </a:tr>
              <a:tr h="243364">
                <a:tc>
                  <a:txBody>
                    <a:bodyPr/>
                    <a:lstStyle/>
                    <a:p>
                      <a:r>
                        <a:rPr lang="en-US" sz="1000" dirty="0"/>
                        <a:t>zs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Zero-shot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73529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r>
                        <a:rPr lang="en-US" sz="1000" dirty="0" err="1"/>
                        <a:t>spp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Solo-Performance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0252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r>
                        <a:rPr lang="en-US" sz="1000" dirty="0"/>
                        <a:t>cot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Chain-of-Thought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06380"/>
                  </a:ext>
                </a:extLst>
              </a:tr>
              <a:tr h="243364">
                <a:tc>
                  <a:txBody>
                    <a:bodyPr/>
                    <a:lstStyle/>
                    <a:p>
                      <a:r>
                        <a:rPr lang="en-US" sz="1000" dirty="0" err="1"/>
                        <a:t>srep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Equilibrium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70809"/>
                  </a:ext>
                </a:extLst>
              </a:tr>
              <a:tr h="243364">
                <a:tc>
                  <a:txBody>
                    <a:bodyPr/>
                    <a:lstStyle/>
                    <a:p>
                      <a:r>
                        <a:rPr lang="en-US" sz="1000" dirty="0"/>
                        <a:t>pp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Pattern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419721"/>
                  </a:ext>
                </a:extLst>
              </a:tr>
              <a:tr h="243364">
                <a:tc>
                  <a:txBody>
                    <a:bodyPr/>
                    <a:lstStyle/>
                    <a:p>
                      <a:r>
                        <a:rPr lang="en-US" sz="1000" dirty="0"/>
                        <a:t>mf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frequency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0792"/>
                  </a:ext>
                </a:extLst>
              </a:tr>
              <a:tr h="243364">
                <a:tc>
                  <a:txBody>
                    <a:bodyPr/>
                    <a:lstStyle/>
                    <a:p>
                      <a:r>
                        <a:rPr lang="en-US" sz="1000" dirty="0" err="1"/>
                        <a:t>tft</a:t>
                      </a:r>
                      <a:endParaRPr lang="LID4096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Tit-for-Tat</a:t>
                      </a:r>
                      <a:endParaRPr lang="LID4096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36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9204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FD004-6208-8028-A149-81D1D85C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EDA8CA0-BF3F-7F3D-6EF3-4BF815C58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0DC622B6-EEC3-2EE0-DB1E-B1574878F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2BA2F-A3C9-8F31-1659-8855C1AC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Prisoner’s Dilemma – Opponent Comprehension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994A528-FA48-ED43-1461-8119B79C0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C907390-2E34-A2DF-9233-4ABD6F5DAC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r="6"/>
          <a:stretch/>
        </p:blipFill>
        <p:spPr>
          <a:xfrm>
            <a:off x="3738033" y="184766"/>
            <a:ext cx="8170269" cy="6421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F50CE5-281A-B244-1E37-5A774E711BCE}"/>
              </a:ext>
            </a:extLst>
          </p:cNvPr>
          <p:cNvSpPr txBox="1"/>
          <p:nvPr/>
        </p:nvSpPr>
        <p:spPr>
          <a:xfrm>
            <a:off x="713232" y="4521200"/>
            <a:ext cx="2402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Games last 16 rounds. Understanding the opponent earlier is better. Lower values are better.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1667240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506CA-4060-813D-5E54-AC34E3B6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758D2EF-038F-9842-0365-2939CC44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0A48DFE-C27C-5106-D8AB-65CB8B72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8C311-234A-E3F2-8280-4E2FFFC8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Rock Paper Scissors– Total Points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49CF4E-EDD2-73D5-06BC-BF6E2949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0ED84B-440B-DDE2-161D-7C6EA734C6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" r="1368"/>
          <a:stretch/>
        </p:blipFill>
        <p:spPr>
          <a:xfrm>
            <a:off x="4086665" y="184766"/>
            <a:ext cx="7821637" cy="642142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F8D09C-AFD8-0396-2661-FAA101DB1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439654"/>
              </p:ext>
            </p:extLst>
          </p:nvPr>
        </p:nvGraphicFramePr>
        <p:xfrm>
          <a:off x="713232" y="3283122"/>
          <a:ext cx="174551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143">
                  <a:extLst>
                    <a:ext uri="{9D8B030D-6E8A-4147-A177-3AD203B41FA5}">
                      <a16:colId xmlns:a16="http://schemas.microsoft.com/office/drawing/2014/main" val="3133711983"/>
                    </a:ext>
                  </a:extLst>
                </a:gridCol>
                <a:gridCol w="1113367">
                  <a:extLst>
                    <a:ext uri="{9D8B030D-6E8A-4147-A177-3AD203B41FA5}">
                      <a16:colId xmlns:a16="http://schemas.microsoft.com/office/drawing/2014/main" val="3266651244"/>
                    </a:ext>
                  </a:extLst>
                </a:gridCol>
              </a:tblGrid>
              <a:tr h="170336">
                <a:tc>
                  <a:txBody>
                    <a:bodyPr/>
                    <a:lstStyle/>
                    <a:p>
                      <a:r>
                        <a:rPr lang="en-US" sz="800" dirty="0"/>
                        <a:t>Opponent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Description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18014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/>
                        <a:t>zs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Zero-shot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73529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 err="1"/>
                        <a:t>spp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Solo-Performance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02522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/>
                        <a:t>cot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Chain-of-Thought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106380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 err="1"/>
                        <a:t>srep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Equilibrium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70809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/>
                        <a:t>pp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Pattern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419721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/>
                        <a:t>mf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Max frequency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0792"/>
                  </a:ext>
                </a:extLst>
              </a:tr>
              <a:tr h="170336">
                <a:tc>
                  <a:txBody>
                    <a:bodyPr/>
                    <a:lstStyle/>
                    <a:p>
                      <a:r>
                        <a:rPr lang="en-US" sz="800" dirty="0" err="1"/>
                        <a:t>tft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Tit-for-Tat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3660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A8DFA8-3434-F1E2-C7A9-43F6A3A3A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13043"/>
              </p:ext>
            </p:extLst>
          </p:nvPr>
        </p:nvGraphicFramePr>
        <p:xfrm>
          <a:off x="713232" y="5085690"/>
          <a:ext cx="2206284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01">
                  <a:extLst>
                    <a:ext uri="{9D8B030D-6E8A-4147-A177-3AD203B41FA5}">
                      <a16:colId xmlns:a16="http://schemas.microsoft.com/office/drawing/2014/main" val="2609996984"/>
                    </a:ext>
                  </a:extLst>
                </a:gridCol>
                <a:gridCol w="1400883">
                  <a:extLst>
                    <a:ext uri="{9D8B030D-6E8A-4147-A177-3AD203B41FA5}">
                      <a16:colId xmlns:a16="http://schemas.microsoft.com/office/drawing/2014/main" val="4225701890"/>
                    </a:ext>
                  </a:extLst>
                </a:gridCol>
              </a:tblGrid>
              <a:tr h="140349">
                <a:tc>
                  <a:txBody>
                    <a:bodyPr/>
                    <a:lstStyle/>
                    <a:p>
                      <a:r>
                        <a:rPr lang="en-US" sz="800" dirty="0"/>
                        <a:t>Game Type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Description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344827"/>
                  </a:ext>
                </a:extLst>
              </a:tr>
              <a:tr h="220548">
                <a:tc>
                  <a:txBody>
                    <a:bodyPr/>
                    <a:lstStyle/>
                    <a:p>
                      <a:r>
                        <a:rPr lang="en-US" sz="800" dirty="0"/>
                        <a:t>eq1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Default strategies; all payoffs equal to 1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411575"/>
                  </a:ext>
                </a:extLst>
              </a:tr>
              <a:tr h="158983">
                <a:tc>
                  <a:txBody>
                    <a:bodyPr/>
                    <a:lstStyle/>
                    <a:p>
                      <a:r>
                        <a:rPr lang="en-US" sz="800" dirty="0"/>
                        <a:t>eq1-alt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Strategy Counterfactual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36480"/>
                  </a:ext>
                </a:extLst>
              </a:tr>
              <a:tr h="220548">
                <a:tc>
                  <a:txBody>
                    <a:bodyPr/>
                    <a:lstStyle/>
                    <a:p>
                      <a:r>
                        <a:rPr lang="en-US" sz="800" dirty="0"/>
                        <a:t>ba3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Payoff Counterfactual; Paper wins give 3 points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97005"/>
                  </a:ext>
                </a:extLst>
              </a:tr>
              <a:tr h="158983">
                <a:tc>
                  <a:txBody>
                    <a:bodyPr/>
                    <a:lstStyle/>
                    <a:p>
                      <a:r>
                        <a:rPr lang="en-US" sz="800" dirty="0"/>
                        <a:t>ba3-alt</a:t>
                      </a:r>
                      <a:endParaRPr lang="LID4096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Combined Counterfactual</a:t>
                      </a:r>
                      <a:endParaRPr lang="LID4096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1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707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A8C6A-431E-FB03-2F54-EA10A0CF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90BC92-C843-E802-95E2-B39DF5FB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0C78A48-8A45-946F-60F1-D153950A5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AC50C-105A-B0BE-5878-9505D7DA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Rock Paper Scissors – Opponent Comprehension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4598D4B-E45B-AC9C-9587-A2279D89A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BF03A5-1E96-4F68-70FD-32490D4C06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" r="171"/>
          <a:stretch/>
        </p:blipFill>
        <p:spPr>
          <a:xfrm>
            <a:off x="3738033" y="184766"/>
            <a:ext cx="8170269" cy="6421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7BF13A-8BEF-1A81-2E6C-F029EAB9687C}"/>
              </a:ext>
            </a:extLst>
          </p:cNvPr>
          <p:cNvSpPr txBox="1"/>
          <p:nvPr/>
        </p:nvSpPr>
        <p:spPr>
          <a:xfrm>
            <a:off x="713232" y="4521200"/>
            <a:ext cx="2402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Games last 24 rounds. Understanding the opponent earlier is better. Lower values are better.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452770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E9EDC-813D-F129-FE24-3113A7B4C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General Conclusions</a:t>
            </a:r>
            <a:endParaRPr lang="LID4096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C13318F-27AD-0CAB-E229-C61FAF9CC7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133658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4733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6666C-0DBB-ACF8-4A53-1F73B93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Future Work</a:t>
            </a:r>
            <a:endParaRPr lang="LID4096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C77D1E5-EB12-909E-C121-8A01DFAFB9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098728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5770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7AE61-AB40-CD19-BD8D-5DAAEE1F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ACFC0E3-92E6-54EE-135F-CC5C1C9F2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9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4412</Words>
  <Application>Microsoft Office PowerPoint</Application>
  <PresentationFormat>Widescreen</PresentationFormat>
  <Paragraphs>406</Paragraphs>
  <Slides>24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Grandview Display</vt:lpstr>
      <vt:lpstr>Wingdings</vt:lpstr>
      <vt:lpstr>DashVTI</vt:lpstr>
      <vt:lpstr>Probing LLM Counterfactual Reasoning in Game Theory</vt:lpstr>
      <vt:lpstr>Contents</vt:lpstr>
      <vt:lpstr>Motivation</vt:lpstr>
      <vt:lpstr>Related Work &amp; Where we fit in</vt:lpstr>
      <vt:lpstr>Background: LLMs &amp; Reasoning</vt:lpstr>
      <vt:lpstr>Background: Game Theory</vt:lpstr>
      <vt:lpstr>Background: Payoff Matrix &amp; Counterfactual Scenarios</vt:lpstr>
      <vt:lpstr>Contributions</vt:lpstr>
      <vt:lpstr>Methodology Overview</vt:lpstr>
      <vt:lpstr>Methodology Overview: LLMs tested</vt:lpstr>
      <vt:lpstr>Methodology Overview: LLM Agents</vt:lpstr>
      <vt:lpstr>Methodology Overview: non-LLM Agents</vt:lpstr>
      <vt:lpstr>Example Chats</vt:lpstr>
      <vt:lpstr>Method</vt:lpstr>
      <vt:lpstr>Game – Description</vt:lpstr>
      <vt:lpstr>Counterfactual Results</vt:lpstr>
      <vt:lpstr>Prisoner’s Dilemma - Cooperation Rates</vt:lpstr>
      <vt:lpstr>Prisoner’s Dilemma – Total Points</vt:lpstr>
      <vt:lpstr>Prisoner’s Dilemma – Opponent Comprehension</vt:lpstr>
      <vt:lpstr>Rock Paper Scissors– Total Points</vt:lpstr>
      <vt:lpstr>Rock Paper Scissors – Opponent Comprehension</vt:lpstr>
      <vt:lpstr>General Conclusions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dimitris georgousis</dc:creator>
  <cp:lastModifiedBy>dimitris georgousis</cp:lastModifiedBy>
  <cp:revision>121</cp:revision>
  <dcterms:created xsi:type="dcterms:W3CDTF">2025-10-04T10:10:15Z</dcterms:created>
  <dcterms:modified xsi:type="dcterms:W3CDTF">2025-10-29T20:19:48Z</dcterms:modified>
</cp:coreProperties>
</file>